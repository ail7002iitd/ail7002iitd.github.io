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57" r:id="rId2"/>
    <p:sldId id="371" r:id="rId3"/>
    <p:sldId id="373" r:id="rId4"/>
    <p:sldId id="372" r:id="rId5"/>
    <p:sldId id="384" r:id="rId6"/>
    <p:sldId id="397" r:id="rId7"/>
    <p:sldId id="380" r:id="rId8"/>
    <p:sldId id="385" r:id="rId9"/>
    <p:sldId id="386" r:id="rId10"/>
    <p:sldId id="390" r:id="rId11"/>
    <p:sldId id="382" r:id="rId12"/>
    <p:sldId id="391" r:id="rId13"/>
    <p:sldId id="392" r:id="rId14"/>
    <p:sldId id="393" r:id="rId15"/>
    <p:sldId id="394" r:id="rId16"/>
    <p:sldId id="396" r:id="rId17"/>
    <p:sldId id="344" r:id="rId18"/>
    <p:sldId id="345" r:id="rId19"/>
    <p:sldId id="346" r:id="rId20"/>
    <p:sldId id="347" r:id="rId21"/>
    <p:sldId id="348" r:id="rId22"/>
    <p:sldId id="349" r:id="rId23"/>
    <p:sldId id="350" r:id="rId24"/>
    <p:sldId id="351" r:id="rId25"/>
    <p:sldId id="352" r:id="rId26"/>
    <p:sldId id="362" r:id="rId27"/>
    <p:sldId id="363" r:id="rId28"/>
    <p:sldId id="364" r:id="rId29"/>
    <p:sldId id="365" r:id="rId30"/>
    <p:sldId id="366" r:id="rId31"/>
    <p:sldId id="367" r:id="rId32"/>
    <p:sldId id="368" r:id="rId33"/>
    <p:sldId id="369" r:id="rId34"/>
    <p:sldId id="370" r:id="rId35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4" dt="2026-10-21T04:50:42.4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161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kanta Bedathur Jagannath" userId="S::srikanta@iitd.ac.in::c4c8edb4-d99e-421f-a1de-c3c25a6487a6" providerId="AD" clId="Web-{00000000-0000-0000-0000-000000000000}"/>
    <pc:docChg chg="modSld">
      <pc:chgData name="Srikanta Bedathur Jagannath" userId="S::srikanta@iitd.ac.in::c4c8edb4-d99e-421f-a1de-c3c25a6487a6" providerId="AD" clId="Web-{00000000-0000-0000-0000-000000000000}" dt="2026-10-21T04:50:42.405" v="11"/>
      <pc:docMkLst>
        <pc:docMk/>
      </pc:docMkLst>
      <pc:sldChg chg="addSp modSp">
        <pc:chgData name="Srikanta Bedathur Jagannath" userId="S::srikanta@iitd.ac.in::c4c8edb4-d99e-421f-a1de-c3c25a6487a6" providerId="AD" clId="Web-{00000000-0000-0000-0000-000000000000}" dt="2026-10-21T04:50:42.405" v="11"/>
        <pc:sldMkLst>
          <pc:docMk/>
          <pc:sldMk cId="2067050182" sldId="386"/>
        </pc:sldMkLst>
        <pc:spChg chg="mod">
          <ac:chgData name="Srikanta Bedathur Jagannath" userId="S::srikanta@iitd.ac.in::c4c8edb4-d99e-421f-a1de-c3c25a6487a6" providerId="AD" clId="Web-{00000000-0000-0000-0000-000000000000}" dt="2026-10-21T04:49:51.530" v="0" actId="1076"/>
          <ac:spMkLst>
            <pc:docMk/>
            <pc:sldMk cId="2067050182" sldId="386"/>
            <ac:spMk id="2" creationId="{00000000-0000-0000-0000-000000000000}"/>
          </ac:spMkLst>
        </pc:spChg>
        <pc:spChg chg="add mod">
          <ac:chgData name="Srikanta Bedathur Jagannath" userId="S::srikanta@iitd.ac.in::c4c8edb4-d99e-421f-a1de-c3c25a6487a6" providerId="AD" clId="Web-{00000000-0000-0000-0000-000000000000}" dt="2026-10-21T04:50:42.405" v="11"/>
          <ac:spMkLst>
            <pc:docMk/>
            <pc:sldMk cId="2067050182" sldId="386"/>
            <ac:spMk id="3" creationId="{5CE8C994-9D95-7E1F-C987-F02A8DAEBC45}"/>
          </ac:spMkLst>
        </pc:spChg>
      </pc:sldChg>
    </pc:docChg>
  </pc:docChgLst>
  <pc:docChgLst>
    <pc:chgData name="Srikanta Bedathur Jagannath" userId="c4c8edb4-d99e-421f-a1de-c3c25a6487a6" providerId="ADAL" clId="{08F46EC6-6F46-5F24-9BE7-B3FBA3AC2D71}"/>
    <pc:docChg chg="undo custSel modSld">
      <pc:chgData name="Srikanta Bedathur Jagannath" userId="c4c8edb4-d99e-421f-a1de-c3c25a6487a6" providerId="ADAL" clId="{08F46EC6-6F46-5F24-9BE7-B3FBA3AC2D71}" dt="2026-10-20T15:39:59.949" v="47" actId="478"/>
      <pc:docMkLst>
        <pc:docMk/>
      </pc:docMkLst>
      <pc:sldChg chg="delSp mod">
        <pc:chgData name="Srikanta Bedathur Jagannath" userId="c4c8edb4-d99e-421f-a1de-c3c25a6487a6" providerId="ADAL" clId="{08F46EC6-6F46-5F24-9BE7-B3FBA3AC2D71}" dt="2026-10-20T15:38:44.343" v="34" actId="478"/>
        <pc:sldMkLst>
          <pc:docMk/>
          <pc:sldMk cId="0" sldId="344"/>
        </pc:sldMkLst>
        <pc:inkChg chg="del">
          <ac:chgData name="Srikanta Bedathur Jagannath" userId="c4c8edb4-d99e-421f-a1de-c3c25a6487a6" providerId="ADAL" clId="{08F46EC6-6F46-5F24-9BE7-B3FBA3AC2D71}" dt="2026-10-20T15:38:44.343" v="34" actId="478"/>
          <ac:inkMkLst>
            <pc:docMk/>
            <pc:sldMk cId="0" sldId="344"/>
            <ac:inkMk id="2" creationId="{00000000-0000-0000-0000-000000000000}"/>
          </ac:inkMkLst>
        </pc:inkChg>
      </pc:sldChg>
      <pc:sldChg chg="delSp mod">
        <pc:chgData name="Srikanta Bedathur Jagannath" userId="c4c8edb4-d99e-421f-a1de-c3c25a6487a6" providerId="ADAL" clId="{08F46EC6-6F46-5F24-9BE7-B3FBA3AC2D71}" dt="2026-10-20T15:38:49.922" v="35" actId="478"/>
        <pc:sldMkLst>
          <pc:docMk/>
          <pc:sldMk cId="0" sldId="345"/>
        </pc:sldMkLst>
        <pc:inkChg chg="del">
          <ac:chgData name="Srikanta Bedathur Jagannath" userId="c4c8edb4-d99e-421f-a1de-c3c25a6487a6" providerId="ADAL" clId="{08F46EC6-6F46-5F24-9BE7-B3FBA3AC2D71}" dt="2026-10-20T15:38:49.922" v="35" actId="478"/>
          <ac:inkMkLst>
            <pc:docMk/>
            <pc:sldMk cId="0" sldId="345"/>
            <ac:inkMk id="2" creationId="{00000000-0000-0000-0000-000000000000}"/>
          </ac:inkMkLst>
        </pc:inkChg>
      </pc:sldChg>
      <pc:sldChg chg="delSp mod">
        <pc:chgData name="Srikanta Bedathur Jagannath" userId="c4c8edb4-d99e-421f-a1de-c3c25a6487a6" providerId="ADAL" clId="{08F46EC6-6F46-5F24-9BE7-B3FBA3AC2D71}" dt="2026-10-20T15:38:55.569" v="36" actId="478"/>
        <pc:sldMkLst>
          <pc:docMk/>
          <pc:sldMk cId="0" sldId="346"/>
        </pc:sldMkLst>
        <pc:inkChg chg="del">
          <ac:chgData name="Srikanta Bedathur Jagannath" userId="c4c8edb4-d99e-421f-a1de-c3c25a6487a6" providerId="ADAL" clId="{08F46EC6-6F46-5F24-9BE7-B3FBA3AC2D71}" dt="2026-10-20T15:38:55.569" v="36" actId="478"/>
          <ac:inkMkLst>
            <pc:docMk/>
            <pc:sldMk cId="0" sldId="346"/>
            <ac:inkMk id="2" creationId="{00000000-0000-0000-0000-000000000000}"/>
          </ac:inkMkLst>
        </pc:inkChg>
      </pc:sldChg>
      <pc:sldChg chg="delSp mod">
        <pc:chgData name="Srikanta Bedathur Jagannath" userId="c4c8edb4-d99e-421f-a1de-c3c25a6487a6" providerId="ADAL" clId="{08F46EC6-6F46-5F24-9BE7-B3FBA3AC2D71}" dt="2026-10-20T15:39:03.137" v="37" actId="478"/>
        <pc:sldMkLst>
          <pc:docMk/>
          <pc:sldMk cId="0" sldId="347"/>
        </pc:sldMkLst>
        <pc:inkChg chg="del">
          <ac:chgData name="Srikanta Bedathur Jagannath" userId="c4c8edb4-d99e-421f-a1de-c3c25a6487a6" providerId="ADAL" clId="{08F46EC6-6F46-5F24-9BE7-B3FBA3AC2D71}" dt="2026-10-20T15:39:03.137" v="37" actId="478"/>
          <ac:inkMkLst>
            <pc:docMk/>
            <pc:sldMk cId="0" sldId="347"/>
            <ac:inkMk id="2" creationId="{00000000-0000-0000-0000-000000000000}"/>
          </ac:inkMkLst>
        </pc:inkChg>
      </pc:sldChg>
      <pc:sldChg chg="delSp mod">
        <pc:chgData name="Srikanta Bedathur Jagannath" userId="c4c8edb4-d99e-421f-a1de-c3c25a6487a6" providerId="ADAL" clId="{08F46EC6-6F46-5F24-9BE7-B3FBA3AC2D71}" dt="2026-10-20T15:39:08.557" v="38" actId="478"/>
        <pc:sldMkLst>
          <pc:docMk/>
          <pc:sldMk cId="0" sldId="348"/>
        </pc:sldMkLst>
        <pc:inkChg chg="del">
          <ac:chgData name="Srikanta Bedathur Jagannath" userId="c4c8edb4-d99e-421f-a1de-c3c25a6487a6" providerId="ADAL" clId="{08F46EC6-6F46-5F24-9BE7-B3FBA3AC2D71}" dt="2026-10-20T15:39:08.557" v="38" actId="478"/>
          <ac:inkMkLst>
            <pc:docMk/>
            <pc:sldMk cId="0" sldId="348"/>
            <ac:inkMk id="2" creationId="{00000000-0000-0000-0000-000000000000}"/>
          </ac:inkMkLst>
        </pc:inkChg>
      </pc:sldChg>
      <pc:sldChg chg="delSp mod">
        <pc:chgData name="Srikanta Bedathur Jagannath" userId="c4c8edb4-d99e-421f-a1de-c3c25a6487a6" providerId="ADAL" clId="{08F46EC6-6F46-5F24-9BE7-B3FBA3AC2D71}" dt="2026-10-20T15:39:14.184" v="39" actId="478"/>
        <pc:sldMkLst>
          <pc:docMk/>
          <pc:sldMk cId="0" sldId="349"/>
        </pc:sldMkLst>
        <pc:inkChg chg="del">
          <ac:chgData name="Srikanta Bedathur Jagannath" userId="c4c8edb4-d99e-421f-a1de-c3c25a6487a6" providerId="ADAL" clId="{08F46EC6-6F46-5F24-9BE7-B3FBA3AC2D71}" dt="2026-10-20T15:39:14.184" v="39" actId="478"/>
          <ac:inkMkLst>
            <pc:docMk/>
            <pc:sldMk cId="0" sldId="349"/>
            <ac:inkMk id="2" creationId="{00000000-0000-0000-0000-000000000000}"/>
          </ac:inkMkLst>
        </pc:inkChg>
      </pc:sldChg>
      <pc:sldChg chg="delSp mod">
        <pc:chgData name="Srikanta Bedathur Jagannath" userId="c4c8edb4-d99e-421f-a1de-c3c25a6487a6" providerId="ADAL" clId="{08F46EC6-6F46-5F24-9BE7-B3FBA3AC2D71}" dt="2026-10-20T15:39:20.044" v="40" actId="478"/>
        <pc:sldMkLst>
          <pc:docMk/>
          <pc:sldMk cId="0" sldId="350"/>
        </pc:sldMkLst>
        <pc:inkChg chg="del">
          <ac:chgData name="Srikanta Bedathur Jagannath" userId="c4c8edb4-d99e-421f-a1de-c3c25a6487a6" providerId="ADAL" clId="{08F46EC6-6F46-5F24-9BE7-B3FBA3AC2D71}" dt="2026-10-20T15:39:20.044" v="40" actId="478"/>
          <ac:inkMkLst>
            <pc:docMk/>
            <pc:sldMk cId="0" sldId="350"/>
            <ac:inkMk id="2" creationId="{00000000-0000-0000-0000-000000000000}"/>
          </ac:inkMkLst>
        </pc:inkChg>
      </pc:sldChg>
      <pc:sldChg chg="delSp mod">
        <pc:chgData name="Srikanta Bedathur Jagannath" userId="c4c8edb4-d99e-421f-a1de-c3c25a6487a6" providerId="ADAL" clId="{08F46EC6-6F46-5F24-9BE7-B3FBA3AC2D71}" dt="2026-10-20T15:39:33.028" v="41" actId="478"/>
        <pc:sldMkLst>
          <pc:docMk/>
          <pc:sldMk cId="0" sldId="352"/>
        </pc:sldMkLst>
        <pc:inkChg chg="del">
          <ac:chgData name="Srikanta Bedathur Jagannath" userId="c4c8edb4-d99e-421f-a1de-c3c25a6487a6" providerId="ADAL" clId="{08F46EC6-6F46-5F24-9BE7-B3FBA3AC2D71}" dt="2026-10-20T15:39:33.028" v="41" actId="478"/>
          <ac:inkMkLst>
            <pc:docMk/>
            <pc:sldMk cId="0" sldId="352"/>
            <ac:inkMk id="2" creationId="{00000000-0000-0000-0000-000000000000}"/>
          </ac:inkMkLst>
        </pc:inkChg>
      </pc:sldChg>
      <pc:sldChg chg="delSp mod">
        <pc:chgData name="Srikanta Bedathur Jagannath" userId="c4c8edb4-d99e-421f-a1de-c3c25a6487a6" providerId="ADAL" clId="{08F46EC6-6F46-5F24-9BE7-B3FBA3AC2D71}" dt="2026-10-20T15:39:37.446" v="42" actId="478"/>
        <pc:sldMkLst>
          <pc:docMk/>
          <pc:sldMk cId="0" sldId="362"/>
        </pc:sldMkLst>
        <pc:inkChg chg="del">
          <ac:chgData name="Srikanta Bedathur Jagannath" userId="c4c8edb4-d99e-421f-a1de-c3c25a6487a6" providerId="ADAL" clId="{08F46EC6-6F46-5F24-9BE7-B3FBA3AC2D71}" dt="2026-10-20T15:39:37.446" v="42" actId="478"/>
          <ac:inkMkLst>
            <pc:docMk/>
            <pc:sldMk cId="0" sldId="362"/>
            <ac:inkMk id="2" creationId="{00000000-0000-0000-0000-000000000000}"/>
          </ac:inkMkLst>
        </pc:inkChg>
      </pc:sldChg>
      <pc:sldChg chg="delSp mod">
        <pc:chgData name="Srikanta Bedathur Jagannath" userId="c4c8edb4-d99e-421f-a1de-c3c25a6487a6" providerId="ADAL" clId="{08F46EC6-6F46-5F24-9BE7-B3FBA3AC2D71}" dt="2026-10-20T15:39:40.791" v="43" actId="478"/>
        <pc:sldMkLst>
          <pc:docMk/>
          <pc:sldMk cId="0" sldId="363"/>
        </pc:sldMkLst>
        <pc:inkChg chg="del">
          <ac:chgData name="Srikanta Bedathur Jagannath" userId="c4c8edb4-d99e-421f-a1de-c3c25a6487a6" providerId="ADAL" clId="{08F46EC6-6F46-5F24-9BE7-B3FBA3AC2D71}" dt="2026-10-20T15:39:40.791" v="43" actId="478"/>
          <ac:inkMkLst>
            <pc:docMk/>
            <pc:sldMk cId="0" sldId="363"/>
            <ac:inkMk id="2" creationId="{00000000-0000-0000-0000-000000000000}"/>
          </ac:inkMkLst>
        </pc:inkChg>
      </pc:sldChg>
      <pc:sldChg chg="delSp mod">
        <pc:chgData name="Srikanta Bedathur Jagannath" userId="c4c8edb4-d99e-421f-a1de-c3c25a6487a6" providerId="ADAL" clId="{08F46EC6-6F46-5F24-9BE7-B3FBA3AC2D71}" dt="2026-10-20T15:39:45.228" v="44" actId="478"/>
        <pc:sldMkLst>
          <pc:docMk/>
          <pc:sldMk cId="0" sldId="364"/>
        </pc:sldMkLst>
        <pc:inkChg chg="del">
          <ac:chgData name="Srikanta Bedathur Jagannath" userId="c4c8edb4-d99e-421f-a1de-c3c25a6487a6" providerId="ADAL" clId="{08F46EC6-6F46-5F24-9BE7-B3FBA3AC2D71}" dt="2026-10-20T15:39:45.228" v="44" actId="478"/>
          <ac:inkMkLst>
            <pc:docMk/>
            <pc:sldMk cId="0" sldId="364"/>
            <ac:inkMk id="2" creationId="{00000000-0000-0000-0000-000000000000}"/>
          </ac:inkMkLst>
        </pc:inkChg>
      </pc:sldChg>
      <pc:sldChg chg="delSp mod">
        <pc:chgData name="Srikanta Bedathur Jagannath" userId="c4c8edb4-d99e-421f-a1de-c3c25a6487a6" providerId="ADAL" clId="{08F46EC6-6F46-5F24-9BE7-B3FBA3AC2D71}" dt="2026-10-20T15:39:48.374" v="45" actId="478"/>
        <pc:sldMkLst>
          <pc:docMk/>
          <pc:sldMk cId="0" sldId="365"/>
        </pc:sldMkLst>
        <pc:inkChg chg="del">
          <ac:chgData name="Srikanta Bedathur Jagannath" userId="c4c8edb4-d99e-421f-a1de-c3c25a6487a6" providerId="ADAL" clId="{08F46EC6-6F46-5F24-9BE7-B3FBA3AC2D71}" dt="2026-10-20T15:39:48.374" v="45" actId="478"/>
          <ac:inkMkLst>
            <pc:docMk/>
            <pc:sldMk cId="0" sldId="365"/>
            <ac:inkMk id="2" creationId="{00000000-0000-0000-0000-000000000000}"/>
          </ac:inkMkLst>
        </pc:inkChg>
      </pc:sldChg>
      <pc:sldChg chg="delSp mod">
        <pc:chgData name="Srikanta Bedathur Jagannath" userId="c4c8edb4-d99e-421f-a1de-c3c25a6487a6" providerId="ADAL" clId="{08F46EC6-6F46-5F24-9BE7-B3FBA3AC2D71}" dt="2026-10-20T15:39:52.562" v="46" actId="478"/>
        <pc:sldMkLst>
          <pc:docMk/>
          <pc:sldMk cId="0" sldId="366"/>
        </pc:sldMkLst>
        <pc:inkChg chg="del">
          <ac:chgData name="Srikanta Bedathur Jagannath" userId="c4c8edb4-d99e-421f-a1de-c3c25a6487a6" providerId="ADAL" clId="{08F46EC6-6F46-5F24-9BE7-B3FBA3AC2D71}" dt="2026-10-20T15:39:52.562" v="46" actId="478"/>
          <ac:inkMkLst>
            <pc:docMk/>
            <pc:sldMk cId="0" sldId="366"/>
            <ac:inkMk id="2" creationId="{00000000-0000-0000-0000-000000000000}"/>
          </ac:inkMkLst>
        </pc:inkChg>
      </pc:sldChg>
      <pc:sldChg chg="delSp mod">
        <pc:chgData name="Srikanta Bedathur Jagannath" userId="c4c8edb4-d99e-421f-a1de-c3c25a6487a6" providerId="ADAL" clId="{08F46EC6-6F46-5F24-9BE7-B3FBA3AC2D71}" dt="2026-10-20T15:39:59.949" v="47" actId="478"/>
        <pc:sldMkLst>
          <pc:docMk/>
          <pc:sldMk cId="0" sldId="367"/>
        </pc:sldMkLst>
        <pc:inkChg chg="del">
          <ac:chgData name="Srikanta Bedathur Jagannath" userId="c4c8edb4-d99e-421f-a1de-c3c25a6487a6" providerId="ADAL" clId="{08F46EC6-6F46-5F24-9BE7-B3FBA3AC2D71}" dt="2026-10-20T15:39:59.949" v="47" actId="478"/>
          <ac:inkMkLst>
            <pc:docMk/>
            <pc:sldMk cId="0" sldId="367"/>
            <ac:inkMk id="2" creationId="{00000000-0000-0000-0000-000000000000}"/>
          </ac:inkMkLst>
        </pc:inkChg>
      </pc:sldChg>
      <pc:sldChg chg="addSp delSp mod">
        <pc:chgData name="Srikanta Bedathur Jagannath" userId="c4c8edb4-d99e-421f-a1de-c3c25a6487a6" providerId="ADAL" clId="{08F46EC6-6F46-5F24-9BE7-B3FBA3AC2D71}" dt="2026-10-20T15:36:33.146" v="20" actId="478"/>
        <pc:sldMkLst>
          <pc:docMk/>
          <pc:sldMk cId="0" sldId="371"/>
        </pc:sldMkLst>
        <pc:inkChg chg="add del">
          <ac:chgData name="Srikanta Bedathur Jagannath" userId="c4c8edb4-d99e-421f-a1de-c3c25a6487a6" providerId="ADAL" clId="{08F46EC6-6F46-5F24-9BE7-B3FBA3AC2D71}" dt="2026-10-20T15:36:33.146" v="20" actId="478"/>
          <ac:inkMkLst>
            <pc:docMk/>
            <pc:sldMk cId="0" sldId="371"/>
            <ac:inkMk id="2" creationId="{00000000-0000-0000-0000-000000000000}"/>
          </ac:inkMkLst>
        </pc:inkChg>
      </pc:sldChg>
      <pc:sldChg chg="addSp delSp mod">
        <pc:chgData name="Srikanta Bedathur Jagannath" userId="c4c8edb4-d99e-421f-a1de-c3c25a6487a6" providerId="ADAL" clId="{08F46EC6-6F46-5F24-9BE7-B3FBA3AC2D71}" dt="2026-10-20T15:36:51.197" v="22" actId="478"/>
        <pc:sldMkLst>
          <pc:docMk/>
          <pc:sldMk cId="0" sldId="372"/>
        </pc:sldMkLst>
        <pc:inkChg chg="add del">
          <ac:chgData name="Srikanta Bedathur Jagannath" userId="c4c8edb4-d99e-421f-a1de-c3c25a6487a6" providerId="ADAL" clId="{08F46EC6-6F46-5F24-9BE7-B3FBA3AC2D71}" dt="2026-10-20T15:36:51.197" v="22" actId="478"/>
          <ac:inkMkLst>
            <pc:docMk/>
            <pc:sldMk cId="0" sldId="372"/>
            <ac:inkMk id="2" creationId="{00000000-0000-0000-0000-000000000000}"/>
          </ac:inkMkLst>
        </pc:inkChg>
      </pc:sldChg>
      <pc:sldChg chg="addSp delSp mod">
        <pc:chgData name="Srikanta Bedathur Jagannath" userId="c4c8edb4-d99e-421f-a1de-c3c25a6487a6" providerId="ADAL" clId="{08F46EC6-6F46-5F24-9BE7-B3FBA3AC2D71}" dt="2026-10-20T15:36:37.826" v="21" actId="478"/>
        <pc:sldMkLst>
          <pc:docMk/>
          <pc:sldMk cId="0" sldId="373"/>
        </pc:sldMkLst>
        <pc:inkChg chg="add del">
          <ac:chgData name="Srikanta Bedathur Jagannath" userId="c4c8edb4-d99e-421f-a1de-c3c25a6487a6" providerId="ADAL" clId="{08F46EC6-6F46-5F24-9BE7-B3FBA3AC2D71}" dt="2026-10-20T15:36:37.826" v="21" actId="478"/>
          <ac:inkMkLst>
            <pc:docMk/>
            <pc:sldMk cId="0" sldId="373"/>
            <ac:inkMk id="2" creationId="{00000000-0000-0000-0000-000000000000}"/>
          </ac:inkMkLst>
        </pc:inkChg>
      </pc:sldChg>
      <pc:sldChg chg="addSp delSp mod">
        <pc:chgData name="Srikanta Bedathur Jagannath" userId="c4c8edb4-d99e-421f-a1de-c3c25a6487a6" providerId="ADAL" clId="{08F46EC6-6F46-5F24-9BE7-B3FBA3AC2D71}" dt="2026-10-20T15:37:35.016" v="25" actId="478"/>
        <pc:sldMkLst>
          <pc:docMk/>
          <pc:sldMk cId="0" sldId="380"/>
        </pc:sldMkLst>
        <pc:inkChg chg="add del">
          <ac:chgData name="Srikanta Bedathur Jagannath" userId="c4c8edb4-d99e-421f-a1de-c3c25a6487a6" providerId="ADAL" clId="{08F46EC6-6F46-5F24-9BE7-B3FBA3AC2D71}" dt="2026-10-20T15:37:35.016" v="25" actId="478"/>
          <ac:inkMkLst>
            <pc:docMk/>
            <pc:sldMk cId="0" sldId="380"/>
            <ac:inkMk id="3" creationId="{00000000-0000-0000-0000-000000000000}"/>
          </ac:inkMkLst>
        </pc:inkChg>
      </pc:sldChg>
      <pc:sldChg chg="addSp delSp mod">
        <pc:chgData name="Srikanta Bedathur Jagannath" userId="c4c8edb4-d99e-421f-a1de-c3c25a6487a6" providerId="ADAL" clId="{08F46EC6-6F46-5F24-9BE7-B3FBA3AC2D71}" dt="2026-10-20T15:38:04.527" v="29" actId="478"/>
        <pc:sldMkLst>
          <pc:docMk/>
          <pc:sldMk cId="0" sldId="382"/>
        </pc:sldMkLst>
        <pc:inkChg chg="add del">
          <ac:chgData name="Srikanta Bedathur Jagannath" userId="c4c8edb4-d99e-421f-a1de-c3c25a6487a6" providerId="ADAL" clId="{08F46EC6-6F46-5F24-9BE7-B3FBA3AC2D71}" dt="2026-10-20T15:38:04.527" v="29" actId="478"/>
          <ac:inkMkLst>
            <pc:docMk/>
            <pc:sldMk cId="0" sldId="382"/>
            <ac:inkMk id="3" creationId="{00000000-0000-0000-0000-000000000000}"/>
          </ac:inkMkLst>
        </pc:inkChg>
      </pc:sldChg>
      <pc:sldChg chg="addSp delSp mod">
        <pc:chgData name="Srikanta Bedathur Jagannath" userId="c4c8edb4-d99e-421f-a1de-c3c25a6487a6" providerId="ADAL" clId="{08F46EC6-6F46-5F24-9BE7-B3FBA3AC2D71}" dt="2026-10-20T15:36:58.080" v="23" actId="478"/>
        <pc:sldMkLst>
          <pc:docMk/>
          <pc:sldMk cId="2238601439" sldId="384"/>
        </pc:sldMkLst>
        <pc:inkChg chg="add del">
          <ac:chgData name="Srikanta Bedathur Jagannath" userId="c4c8edb4-d99e-421f-a1de-c3c25a6487a6" providerId="ADAL" clId="{08F46EC6-6F46-5F24-9BE7-B3FBA3AC2D71}" dt="2026-10-20T15:36:58.080" v="23" actId="478"/>
          <ac:inkMkLst>
            <pc:docMk/>
            <pc:sldMk cId="2238601439" sldId="384"/>
            <ac:inkMk id="2" creationId="{00000000-0000-0000-0000-000000000000}"/>
          </ac:inkMkLst>
        </pc:inkChg>
      </pc:sldChg>
      <pc:sldChg chg="addSp delSp mod">
        <pc:chgData name="Srikanta Bedathur Jagannath" userId="c4c8edb4-d99e-421f-a1de-c3c25a6487a6" providerId="ADAL" clId="{08F46EC6-6F46-5F24-9BE7-B3FBA3AC2D71}" dt="2026-10-20T15:37:42.608" v="26" actId="478"/>
        <pc:sldMkLst>
          <pc:docMk/>
          <pc:sldMk cId="141248211" sldId="385"/>
        </pc:sldMkLst>
        <pc:inkChg chg="add del">
          <ac:chgData name="Srikanta Bedathur Jagannath" userId="c4c8edb4-d99e-421f-a1de-c3c25a6487a6" providerId="ADAL" clId="{08F46EC6-6F46-5F24-9BE7-B3FBA3AC2D71}" dt="2026-10-20T15:37:42.608" v="26" actId="478"/>
          <ac:inkMkLst>
            <pc:docMk/>
            <pc:sldMk cId="141248211" sldId="385"/>
            <ac:inkMk id="3" creationId="{00000000-0000-0000-0000-000000000000}"/>
          </ac:inkMkLst>
        </pc:inkChg>
      </pc:sldChg>
      <pc:sldChg chg="addSp delSp mod">
        <pc:chgData name="Srikanta Bedathur Jagannath" userId="c4c8edb4-d99e-421f-a1de-c3c25a6487a6" providerId="ADAL" clId="{08F46EC6-6F46-5F24-9BE7-B3FBA3AC2D71}" dt="2026-10-20T15:37:49.813" v="27" actId="478"/>
        <pc:sldMkLst>
          <pc:docMk/>
          <pc:sldMk cId="2067050182" sldId="386"/>
        </pc:sldMkLst>
        <pc:inkChg chg="add del">
          <ac:chgData name="Srikanta Bedathur Jagannath" userId="c4c8edb4-d99e-421f-a1de-c3c25a6487a6" providerId="ADAL" clId="{08F46EC6-6F46-5F24-9BE7-B3FBA3AC2D71}" dt="2026-10-20T15:37:49.813" v="27" actId="478"/>
          <ac:inkMkLst>
            <pc:docMk/>
            <pc:sldMk cId="2067050182" sldId="386"/>
            <ac:inkMk id="3" creationId="{00000000-0000-0000-0000-000000000000}"/>
          </ac:inkMkLst>
        </pc:inkChg>
      </pc:sldChg>
      <pc:sldChg chg="addSp delSp mod">
        <pc:chgData name="Srikanta Bedathur Jagannath" userId="c4c8edb4-d99e-421f-a1de-c3c25a6487a6" providerId="ADAL" clId="{08F46EC6-6F46-5F24-9BE7-B3FBA3AC2D71}" dt="2026-10-20T15:37:56.404" v="28" actId="478"/>
        <pc:sldMkLst>
          <pc:docMk/>
          <pc:sldMk cId="3225336901" sldId="390"/>
        </pc:sldMkLst>
        <pc:inkChg chg="add del">
          <ac:chgData name="Srikanta Bedathur Jagannath" userId="c4c8edb4-d99e-421f-a1de-c3c25a6487a6" providerId="ADAL" clId="{08F46EC6-6F46-5F24-9BE7-B3FBA3AC2D71}" dt="2026-10-20T15:37:56.404" v="28" actId="478"/>
          <ac:inkMkLst>
            <pc:docMk/>
            <pc:sldMk cId="3225336901" sldId="390"/>
            <ac:inkMk id="2" creationId="{00000000-0000-0000-0000-000000000000}"/>
          </ac:inkMkLst>
        </pc:inkChg>
      </pc:sldChg>
      <pc:sldChg chg="delSp mod">
        <pc:chgData name="Srikanta Bedathur Jagannath" userId="c4c8edb4-d99e-421f-a1de-c3c25a6487a6" providerId="ADAL" clId="{08F46EC6-6F46-5F24-9BE7-B3FBA3AC2D71}" dt="2026-10-20T15:38:13.123" v="30" actId="478"/>
        <pc:sldMkLst>
          <pc:docMk/>
          <pc:sldMk cId="3267621743" sldId="392"/>
        </pc:sldMkLst>
        <pc:inkChg chg="del">
          <ac:chgData name="Srikanta Bedathur Jagannath" userId="c4c8edb4-d99e-421f-a1de-c3c25a6487a6" providerId="ADAL" clId="{08F46EC6-6F46-5F24-9BE7-B3FBA3AC2D71}" dt="2026-10-20T15:38:13.123" v="30" actId="478"/>
          <ac:inkMkLst>
            <pc:docMk/>
            <pc:sldMk cId="3267621743" sldId="392"/>
            <ac:inkMk id="2" creationId="{00000000-0000-0000-0000-000000000000}"/>
          </ac:inkMkLst>
        </pc:inkChg>
      </pc:sldChg>
      <pc:sldChg chg="delSp mod">
        <pc:chgData name="Srikanta Bedathur Jagannath" userId="c4c8edb4-d99e-421f-a1de-c3c25a6487a6" providerId="ADAL" clId="{08F46EC6-6F46-5F24-9BE7-B3FBA3AC2D71}" dt="2026-10-20T15:38:21.040" v="31" actId="478"/>
        <pc:sldMkLst>
          <pc:docMk/>
          <pc:sldMk cId="2210422598" sldId="393"/>
        </pc:sldMkLst>
        <pc:inkChg chg="del">
          <ac:chgData name="Srikanta Bedathur Jagannath" userId="c4c8edb4-d99e-421f-a1de-c3c25a6487a6" providerId="ADAL" clId="{08F46EC6-6F46-5F24-9BE7-B3FBA3AC2D71}" dt="2026-10-20T15:38:21.040" v="31" actId="478"/>
          <ac:inkMkLst>
            <pc:docMk/>
            <pc:sldMk cId="2210422598" sldId="393"/>
            <ac:inkMk id="2" creationId="{00000000-0000-0000-0000-000000000000}"/>
          </ac:inkMkLst>
        </pc:inkChg>
      </pc:sldChg>
      <pc:sldChg chg="delSp mod">
        <pc:chgData name="Srikanta Bedathur Jagannath" userId="c4c8edb4-d99e-421f-a1de-c3c25a6487a6" providerId="ADAL" clId="{08F46EC6-6F46-5F24-9BE7-B3FBA3AC2D71}" dt="2026-10-20T15:38:26.762" v="32" actId="478"/>
        <pc:sldMkLst>
          <pc:docMk/>
          <pc:sldMk cId="3668605926" sldId="394"/>
        </pc:sldMkLst>
        <pc:inkChg chg="del">
          <ac:chgData name="Srikanta Bedathur Jagannath" userId="c4c8edb4-d99e-421f-a1de-c3c25a6487a6" providerId="ADAL" clId="{08F46EC6-6F46-5F24-9BE7-B3FBA3AC2D71}" dt="2026-10-20T15:38:26.762" v="32" actId="478"/>
          <ac:inkMkLst>
            <pc:docMk/>
            <pc:sldMk cId="3668605926" sldId="394"/>
            <ac:inkMk id="4" creationId="{00000000-0000-0000-0000-000000000000}"/>
          </ac:inkMkLst>
        </pc:inkChg>
      </pc:sldChg>
      <pc:sldChg chg="delSp mod">
        <pc:chgData name="Srikanta Bedathur Jagannath" userId="c4c8edb4-d99e-421f-a1de-c3c25a6487a6" providerId="ADAL" clId="{08F46EC6-6F46-5F24-9BE7-B3FBA3AC2D71}" dt="2026-10-20T15:38:38.406" v="33" actId="478"/>
        <pc:sldMkLst>
          <pc:docMk/>
          <pc:sldMk cId="57640487" sldId="396"/>
        </pc:sldMkLst>
        <pc:inkChg chg="del">
          <ac:chgData name="Srikanta Bedathur Jagannath" userId="c4c8edb4-d99e-421f-a1de-c3c25a6487a6" providerId="ADAL" clId="{08F46EC6-6F46-5F24-9BE7-B3FBA3AC2D71}" dt="2026-10-20T15:38:38.406" v="33" actId="478"/>
          <ac:inkMkLst>
            <pc:docMk/>
            <pc:sldMk cId="57640487" sldId="396"/>
            <ac:inkMk id="2" creationId="{00000000-0000-0000-0000-000000000000}"/>
          </ac:inkMkLst>
        </pc:inkChg>
      </pc:sldChg>
      <pc:sldChg chg="addSp delSp mod">
        <pc:chgData name="Srikanta Bedathur Jagannath" userId="c4c8edb4-d99e-421f-a1de-c3c25a6487a6" providerId="ADAL" clId="{08F46EC6-6F46-5F24-9BE7-B3FBA3AC2D71}" dt="2026-10-20T15:37:28.178" v="24" actId="478"/>
        <pc:sldMkLst>
          <pc:docMk/>
          <pc:sldMk cId="1129012869" sldId="397"/>
        </pc:sldMkLst>
        <pc:inkChg chg="add del">
          <ac:chgData name="Srikanta Bedathur Jagannath" userId="c4c8edb4-d99e-421f-a1de-c3c25a6487a6" providerId="ADAL" clId="{08F46EC6-6F46-5F24-9BE7-B3FBA3AC2D71}" dt="2026-10-20T15:37:28.178" v="24" actId="478"/>
          <ac:inkMkLst>
            <pc:docMk/>
            <pc:sldMk cId="1129012869" sldId="397"/>
            <ac:inkMk id="3" creationId="{00000000-0000-0000-0000-000000000000}"/>
          </ac:inkMkLst>
        </pc:ink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79DA50B-4B6B-41E8-B785-BFA368D6E62D}" type="datetime1">
              <a:rPr lang="en-US" altLang="en-US"/>
              <a:pPr>
                <a:defRPr/>
              </a:pPr>
              <a:t>10/20/2026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8C5C68F-5714-4767-A6AA-1069EAD082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124508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4-24T19:48:13.0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17480 5059 518 0,'0'0'46'0,"0"0"-37"15,0 0-9-15,0 0 0 0,-9-5 136 0,9 5 24 16,3-8 6-16,0 5 1 0,-3-8-109 0,0 9-22 16,0 2-4-16,6-8 0 0,3 3-4 0,-6-3 0 15,-3 2 0-15,3 1 0 16,9-3-18-16,-6 3-10 0,-6-1 10 0,0 6-10 0,6-2 24 0,-6 2 0 15,0 0-1-15,0 0 0 0,0 0 9 0,0 0 3 0,12 2 0 0,-3 1 0 16,-9-3-35-16,0 0 0 16,15 8 0-16,-3-3 0 0,2 3 24 0,1-5-1 15,9 0-1-15,0-1 0 0,6 4 5 0,-1-1 1 16,-2 3 0-16,3-6 0 0,6-2 0 0,2 0 1 16,-5-2 0-16,6 2 0 0,3 0 1 0,2 0 0 15,1 0 0-15,2-6 0 0,4 4-8 0,0 2-2 16,-1 0 0-16,4-3 0 0,-1 1-2 0,1 2-1 0,-6-6 0 0,5 6 0 15,7 0-17-15,-1 0 10 0,1-5-10 0,2 2 8 16,4-5-8-16,-7 8 0 0,1-5 0 16,2-3 8-16,1 3-8 0,-1 0 0 0,1-1 0 0,-1 1 8 15,-2-3-8-15,-9 3 0 0,-4 2 0 0,4 3 0 16,2 0 0-16,-2 3 0 0,-6 2 0 16,-1-2 0-16,4-1 0 0,-4 1 0 0,-5 0 0 0,0-1 0 15,-6-2 0-15,-1 3 0 0,-2 0 0 0,0 2 0 0,0-3 0 16,-1-2 0-16,-5 0 9 15,-3 0-9-15,-6 0 13 0,0 0-1 0,0 0-1 0,-3-2 0 16,-3 2 10-16,-3-5 3 0,-1-1 0 0,4-2 0 0,-6 0-12 16,0 3-3-16,0-6 0 0,0 4 0 0,3-1 3 0,-6-6 1 15,-6 4 0-15,3-1 0 0,3 1-3 0,-3-1-1 16,0 3 0-16,-9 0 0 0,4 0-9 16,-1 3 12-16,3-6-12 0,-9 3 12 0,3 0-12 0,3-2 0 15,-6 2-12-15,3 3 12 0,3-1-8 0,-6 1 8 16,0 0 0-16,9 0 0 0,-8 5 0 0,5-6 0 15,3 4 0-15,-3-1 0 0,3 3 0 0,0 0 0 16,-3-3 8-16,9 3-8 0,0 0 12 0,0 0-4 0,0 0 0 0,9 3 0 16,-9-3 7-16,12 3 1 15,3-1 0-15,0-2 0 0,5 6-16 0,10-6 0 0,-9 2 0 16,9-2 0-16,-9 3 0 0,2-1 11 0,4 1-2 0,-3 0 0 16,-3 2-9-16,3-2-11 15,2 2 3-15,-5 0 0 0,-6 3 8 0,0-3 0 0,0 3 0 0,-3 0 0 16,-3 3 8-16,0-3-8 0,-12 0 10 15,-3 5-10-15,3-2 25 0,-9 7-1 0,-9-2 0 0,-3 0 0 16,-3-3 20-16,1 3 3 16,-4 3 1-16,0-1 0 0,-3-5-33 0,-2 1-7 0,-1 1 0 15,-3 4-8-15,1 2 8 0,-4-2-8 0,3-1 0 16,1 1 0 0,-1-1-84-16,-6 3-20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4-24T19:48:28.4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16147 15751 1850 0,'0'0'82'0,"0"0"17"16,0 0-79-16,0 0-20 0,0 0 0 0,0 0 0 0,0 0 99 0,0 0 16 15,0 0 3-15,0 0 1 0,0 0-79 0,6-8-16 16,-3 2-4-16,6 1 0 0,2-3-28 0,4-2-7 15,6 4-1-15,0 1 0 0,-6 0 0 0,6-3-1 16,-3 3 0-16,2 5 0 16,-2-3-96-16,3 3-19 0,-3 0-4 0,0 3-720 0</inkml:trace>
  <inkml:trace contextRef="#ctx0" brushRef="#br0" timeOffset="352.82">17447 15722 230 0,'0'0'20'0,"0"0"-20"0,0 0 0 0,0 0 0 16,0 0 344-16,0 0 65 0,0 0 13 0,15 0 2 16,6 0-282-16,-9 0-57 0,-12 0-11 15,18 2-2-15,3-4-49 0,3 2-10 0,-12 0-1 0,8 2-1 0,-5-2-11 0,0 0-12 16,9 3 2-16,-3-1 1 15,-3 4-24 1,-1-1-5-16,4 0-1 0,3 3-537 0,-12 0-107 0</inkml:trace>
  <inkml:trace contextRef="#ctx0" brushRef="#br0" timeOffset="629.12">18721 15788 2070 0,'0'0'92'0,"0"0"18"0,0 0-88 0,6 0-22 0,3 0 0 0,0-3 0 15,0 0 36-15,6 1 4 0,3-4 0 0,0 1 0 31,0-3-64-31,0 3-13 0,8-3-3 0,-2 5 0 16,-6 1 1-16,0-1 0 0,-6 3 0 0,3 3 0 16,0-3 11-16,2 2 1 0,-5 4 1 0,3-1 0 15,-3 0-59-15,3 3-12 0,3 0-3 0</inkml:trace>
  <inkml:trace contextRef="#ctx0" brushRef="#br0" timeOffset="965.77">19879 15827 1828 0,'0'-8'81'0,"-6"6"17"0,0 2-78 15,6 0-20-15,0 0 0 0,0 0 0 16,-6-5 64-16,6 2 8 0,12-5 3 0,-6 3 0 0,-6-3-64 0,9 2-11 16,3 6 0-16,0-2-10 0,3-1 21 0,0 3 4 15,-3 0 1-15,6 0 0 0,-1 3 13 0,-2-1 3 0,3-2 1 16,3 6 0-16,0-1-17 0,-3-2-4 16,0 2-1-16,-1-2 0 0,4 2-11 0,0 0 0 0,3-2-10 0,-3 2 10 31,0-2-43-31,2-1-2 0,7 4-1 0,-9-4 0 15,-3 1-37-15,3 0-7 0,0-3-2 0,-1 2-479 0,1-2-96 0</inkml:trace>
  <inkml:trace contextRef="#ctx0" brushRef="#br0" timeOffset="1197.21">21076 15759 2224 0,'0'0'99'0,"9"2"20"0,0 1-95 0,3 0-24 15,3-3 0-15,-4 2 0 0,1-2 68 0,3 0 8 16,3 0 3-16,0-2 0 0,-3-1-66 0,-3 0-13 16,6-5 0-16,-6-2-1114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67F39C23-3873-408C-9DCC-FFA8AD09A686}" type="datetime1">
              <a:rPr lang="en-US" altLang="en-US"/>
              <a:pPr>
                <a:defRPr/>
              </a:pPr>
              <a:t>10/20/2026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8EE73235-A475-4810-BCDF-CD38DCD024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44375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21FEF6-7764-4B6D-9FEB-41D7A2B0BF2C}" type="datetime1">
              <a:rPr lang="en-US" altLang="en-US"/>
              <a:pPr>
                <a:defRPr/>
              </a:pPr>
              <a:t>10/20/2026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3DE509-8510-4BFF-91EF-DBCAD254E76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1863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D5327B-31F6-4C79-8C8E-C91CDBD5A52B}" type="datetime1">
              <a:rPr lang="en-US" altLang="en-US"/>
              <a:pPr>
                <a:defRPr/>
              </a:pPr>
              <a:t>10/20/2026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3EC62D-432E-4B45-A3CE-178691A8782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2165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5F953-F54D-4F89-8AA8-95A89F85761C}" type="datetime1">
              <a:rPr lang="en-US" altLang="en-US"/>
              <a:pPr>
                <a:defRPr/>
              </a:pPr>
              <a:t>10/20/2026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1D80B3-C0C8-493B-BB1D-E5BEDDD0E0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1299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DB3526-F68D-4F95-A6EC-45C2A9828CC0}" type="datetime1">
              <a:rPr lang="en-US" altLang="en-US"/>
              <a:pPr>
                <a:defRPr/>
              </a:pPr>
              <a:t>10/20/2026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D6088E-44E4-491E-BEF3-6F81FA49EF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8229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5C4644-9AE1-48A8-9F09-EFE9E58F6782}" type="datetime1">
              <a:rPr lang="en-US" altLang="en-US"/>
              <a:pPr>
                <a:defRPr/>
              </a:pPr>
              <a:t>10/20/2026</a:t>
            </a:fld>
            <a:endParaRPr lang="en-US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F27A6E-A934-4EA3-A8CD-1359C1F977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4142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B4BF3B-EAA8-41FB-8B07-534588B6BC39}" type="datetime1">
              <a:rPr lang="en-US" altLang="en-US"/>
              <a:pPr>
                <a:defRPr/>
              </a:pPr>
              <a:t>10/20/2026</a:t>
            </a:fld>
            <a:endParaRPr lang="en-US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6977F6-10B3-47C5-87E9-2FCB185E8A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727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6A8EE2-8F4C-41C0-B78E-66827DCA160E}" type="datetime1">
              <a:rPr lang="en-US" altLang="en-US"/>
              <a:pPr>
                <a:defRPr/>
              </a:pPr>
              <a:t>10/20/2026</a:t>
            </a:fld>
            <a:endParaRPr lang="en-US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1C3FB3-C849-40B6-BE70-A3C6196DF3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1447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7C0B8F-6644-4B7A-932B-EC7645C277CE}" type="datetime1">
              <a:rPr lang="en-US" altLang="en-US"/>
              <a:pPr>
                <a:defRPr/>
              </a:pPr>
              <a:t>10/20/2026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921C90-1F04-4FDB-B80A-4EA5013C56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143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6FD3E4-4CAD-48E6-B881-F36FB0BF0AEE}" type="datetime1">
              <a:rPr lang="en-US" altLang="en-US"/>
              <a:pPr>
                <a:defRPr/>
              </a:pPr>
              <a:t>10/20/2026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429DAA-320F-48E3-A3E3-06D9D711F30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0734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3F9B25-4058-4FA5-91E4-78B90F5A4C79}" type="datetime1">
              <a:rPr lang="en-US" altLang="en-US"/>
              <a:pPr>
                <a:defRPr/>
              </a:pPr>
              <a:t>10/20/2026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9B70E3-559B-497B-AB14-B28CA58FF4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2633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825022-DBE7-4421-A134-1CE3A6521474}" type="datetime1">
              <a:rPr lang="en-US" altLang="en-US"/>
              <a:pPr>
                <a:defRPr/>
              </a:pPr>
              <a:t>10/20/2026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F7D32B-EEA1-47C6-93D2-E9074CF769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4747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D4B61C7-545A-49FD-B6D0-471A0BB1FA51}" type="datetime1">
              <a:rPr lang="en-US" altLang="en-US"/>
              <a:pPr>
                <a:defRPr/>
              </a:pPr>
              <a:t>10/20/2026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827651CE-C14F-408C-B3FC-2D8DC6560A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e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Djikstra’s Algorithm</a:t>
            </a:r>
          </a:p>
        </p:txBody>
      </p:sp>
      <p:sp>
        <p:nvSpPr>
          <p:cNvPr id="4099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898989"/>
                </a:solidFill>
                <a:ea typeface="ＭＳ Ｐゴシック" panose="020B0600070205080204" pitchFamily="34" charset="-128"/>
              </a:rPr>
              <a:t>Slide Courtesy: Uwash, UT</a:t>
            </a:r>
          </a:p>
        </p:txBody>
      </p:sp>
      <p:sp>
        <p:nvSpPr>
          <p:cNvPr id="410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3EC37C1-60C1-4BF6-847A-BE4876284AD4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>
            <a:normAutofit fontScale="90000"/>
          </a:bodyPr>
          <a:lstStyle/>
          <a:p>
            <a:pPr fontAlgn="auto">
              <a:lnSpc>
                <a:spcPct val="95000"/>
              </a:lnSpc>
              <a:spcAft>
                <a:spcPts val="0"/>
              </a:spcAft>
              <a:defRPr/>
            </a:pPr>
            <a:r>
              <a:rPr lang="en-US" sz="3900" b="1" dirty="0">
                <a:solidFill>
                  <a:srgbClr val="3B62AF"/>
                </a:solidFill>
                <a:latin typeface="Arial" charset="0"/>
              </a:rPr>
              <a:t>Single-Source Shortest Path Problem </a:t>
            </a:r>
          </a:p>
        </p:txBody>
      </p:sp>
      <p:sp>
        <p:nvSpPr>
          <p:cNvPr id="5123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320675" y="1439863"/>
            <a:ext cx="8697913" cy="4938712"/>
          </a:xfrm>
        </p:spPr>
        <p:txBody>
          <a:bodyPr lIns="0" tIns="0" rIns="0" bIns="0"/>
          <a:lstStyle/>
          <a:p>
            <a:pPr marL="0" indent="0">
              <a:lnSpc>
                <a:spcPct val="95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b="1" u="sng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Single-Source Shortest Path Problem</a:t>
            </a:r>
            <a:r>
              <a:rPr lang="en-US" altLang="en-US" b="1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- The problem of finding shortest paths from a source vertex </a:t>
            </a:r>
            <a:r>
              <a:rPr lang="en-US" altLang="en-US" i="1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</a:t>
            </a: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to all other vertices in the graph.</a:t>
            </a: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1563" y="3086100"/>
            <a:ext cx="3808412" cy="251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/>
          <p:cNvSpPr>
            <a:spLocks noGrp="1" noChangeArrowheads="1"/>
          </p:cNvSpPr>
          <p:nvPr>
            <p:ph type="title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altLang="en-US" sz="3900">
                <a:solidFill>
                  <a:srgbClr val="3B62A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Applications</a:t>
            </a:r>
          </a:p>
        </p:txBody>
      </p:sp>
      <p:sp>
        <p:nvSpPr>
          <p:cNvPr id="6147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220663" y="1079500"/>
            <a:ext cx="8702675" cy="4941888"/>
          </a:xfrm>
        </p:spPr>
        <p:txBody>
          <a:bodyPr lIns="0" tIns="0" rIns="0" bIns="0"/>
          <a:lstStyle/>
          <a:p>
            <a:pPr marL="0" indent="0">
              <a:lnSpc>
                <a:spcPct val="95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400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- Maps (Map Quest, Google Maps) </a:t>
            </a:r>
            <a:endParaRPr lang="en-US" altLang="en-US" sz="2400">
              <a:ea typeface="ＭＳ Ｐゴシック" panose="020B0600070205080204" pitchFamily="34" charset="-128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400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- Routing Systems</a:t>
            </a: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" y="2403475"/>
            <a:ext cx="3413125" cy="332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975" y="2070100"/>
            <a:ext cx="3760788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/>
          <p:cNvSpPr>
            <a:spLocks noGrp="1" noChangeArrowheads="1"/>
          </p:cNvSpPr>
          <p:nvPr>
            <p:ph type="title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altLang="en-US" sz="3900" b="1">
                <a:solidFill>
                  <a:srgbClr val="3B62A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Dijkstra's algorithm </a:t>
            </a:r>
          </a:p>
        </p:txBody>
      </p:sp>
      <p:sp>
        <p:nvSpPr>
          <p:cNvPr id="7171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220663" y="1171575"/>
            <a:ext cx="8397875" cy="4938713"/>
          </a:xfrm>
        </p:spPr>
        <p:txBody>
          <a:bodyPr lIns="0" tIns="0" rIns="0" bIns="0"/>
          <a:lstStyle/>
          <a:p>
            <a:pPr marL="0" indent="0">
              <a:lnSpc>
                <a:spcPct val="95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500" b="1" u="sng" dirty="0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Dijkstra's algorithm</a:t>
            </a:r>
            <a:r>
              <a:rPr lang="en-US" altLang="en-US" sz="2500" b="1" dirty="0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500" dirty="0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-</a:t>
            </a:r>
            <a:r>
              <a:rPr lang="en-US" altLang="en-US" sz="2500" b="1" dirty="0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500" dirty="0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is a solution to the single-source shortest path problem in graph theory. </a:t>
            </a:r>
            <a:endParaRPr lang="en-US" altLang="en-US" sz="2500" dirty="0">
              <a:ea typeface="ＭＳ Ｐゴシック" panose="020B0600070205080204" pitchFamily="34" charset="-128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500" dirty="0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 </a:t>
            </a:r>
            <a:endParaRPr lang="en-US" altLang="en-US" sz="2500" dirty="0">
              <a:ea typeface="ＭＳ Ｐゴシック" panose="020B0600070205080204" pitchFamily="34" charset="-128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500" dirty="0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Works on both directed and undirected graphs. However, all edges must have </a:t>
            </a:r>
            <a:r>
              <a:rPr lang="en-US" altLang="en-US" sz="2500" dirty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nonnegative</a:t>
            </a:r>
            <a:r>
              <a:rPr lang="en-US" altLang="en-US" sz="2500" dirty="0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weights.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2500" dirty="0">
              <a:solidFill>
                <a:srgbClr val="444444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500" dirty="0">
                <a:solidFill>
                  <a:srgbClr val="99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Input:</a:t>
            </a:r>
            <a:r>
              <a:rPr lang="en-US" altLang="en-US" sz="2500" dirty="0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Weighted graph G={E,V} and source vertex </a:t>
            </a:r>
            <a:r>
              <a:rPr lang="en-US" altLang="en-US" sz="2500" i="1" dirty="0" err="1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</a:t>
            </a:r>
            <a:r>
              <a:rPr lang="en-US" altLang="en-US" sz="2500" dirty="0" err="1">
                <a:latin typeface="Constantia" panose="02030602050306030303" pitchFamily="18" charset="0"/>
                <a:ea typeface="ＭＳ Ｐゴシック" panose="020B0600070205080204" pitchFamily="34" charset="-128"/>
              </a:rPr>
              <a:t>∈</a:t>
            </a:r>
            <a:r>
              <a:rPr lang="en-US" altLang="en-US" sz="2500" dirty="0" err="1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V</a:t>
            </a:r>
            <a:r>
              <a:rPr lang="en-US" altLang="en-US" sz="2500" dirty="0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 such that all edge weights are nonnegative</a:t>
            </a:r>
            <a:endParaRPr lang="en-US" altLang="en-US" sz="2500" dirty="0">
              <a:ea typeface="ＭＳ Ｐゴシック" panose="020B0600070205080204" pitchFamily="34" charset="-128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500" dirty="0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 </a:t>
            </a:r>
            <a:endParaRPr lang="en-US" altLang="en-US" sz="2500" dirty="0">
              <a:ea typeface="ＭＳ Ｐゴシック" panose="020B0600070205080204" pitchFamily="34" charset="-128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500" dirty="0">
                <a:solidFill>
                  <a:srgbClr val="99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Output:</a:t>
            </a:r>
            <a:r>
              <a:rPr lang="en-US" altLang="en-US" sz="2500" dirty="0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Lengths of shortest paths (or the shortest paths themselves) from a given source vertex</a:t>
            </a:r>
            <a:r>
              <a:rPr lang="en-US" altLang="en-US" sz="2500" i="1" dirty="0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500" i="1" dirty="0" err="1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</a:t>
            </a:r>
            <a:r>
              <a:rPr lang="en-US" altLang="en-US" sz="2500" dirty="0" err="1">
                <a:latin typeface="Constantia" panose="02030602050306030303" pitchFamily="18" charset="0"/>
                <a:ea typeface="ＭＳ Ｐゴシック" panose="020B0600070205080204" pitchFamily="34" charset="-128"/>
              </a:rPr>
              <a:t>∈</a:t>
            </a:r>
            <a:r>
              <a:rPr lang="en-US" altLang="en-US" sz="2500" dirty="0" err="1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V</a:t>
            </a:r>
            <a:r>
              <a:rPr lang="en-US" altLang="en-US" sz="2500" dirty="0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 to all other vertices</a:t>
            </a:r>
            <a:endParaRPr lang="en-US" altLang="en-US" sz="2500" dirty="0">
              <a:ea typeface="ＭＳ Ｐゴシック" panose="020B0600070205080204" pitchFamily="34" charset="-128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2500" b="1" dirty="0">
              <a:solidFill>
                <a:srgbClr val="444444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2500" b="1" u="sng" dirty="0">
              <a:solidFill>
                <a:srgbClr val="444444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/>
          <p:cNvSpPr>
            <a:spLocks noGrp="1" noChangeArrowheads="1"/>
          </p:cNvSpPr>
          <p:nvPr>
            <p:ph type="title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altLang="en-US" sz="3900" b="1">
                <a:solidFill>
                  <a:srgbClr val="3B62A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Dijkstra's algorithm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1" name="Rectangle 2"/>
              <p:cNvSpPr>
                <a:spLocks noGrp="1" noChangeArrowheads="1"/>
              </p:cNvSpPr>
              <p:nvPr>
                <p:ph sz="quarter" idx="1"/>
              </p:nvPr>
            </p:nvSpPr>
            <p:spPr>
              <a:xfrm>
                <a:off x="220663" y="1171575"/>
                <a:ext cx="8923337" cy="4938713"/>
              </a:xfrm>
            </p:spPr>
            <p:txBody>
              <a:bodyPr lIns="0" tIns="0" rIns="0" bIns="0"/>
              <a:lstStyle/>
              <a:p>
                <a:pPr marL="0" indent="0">
                  <a:lnSpc>
                    <a:spcPct val="95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en-US" sz="2500" b="1" u="sng" dirty="0">
                    <a:solidFill>
                      <a:srgbClr val="444444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Initial Approach: </a:t>
                </a:r>
                <a:r>
                  <a:rPr lang="en-US" altLang="en-US" sz="2500" dirty="0">
                    <a:solidFill>
                      <a:srgbClr val="444444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Can we adapt BFS by “sub-dividing each edge “ ? </a:t>
                </a:r>
              </a:p>
              <a:p>
                <a:pPr marL="0" indent="0">
                  <a:lnSpc>
                    <a:spcPct val="95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500" dirty="0">
                  <a:solidFill>
                    <a:srgbClr val="444444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  <a:p>
                <a:pPr marL="0" indent="0">
                  <a:lnSpc>
                    <a:spcPct val="95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500" dirty="0">
                  <a:solidFill>
                    <a:srgbClr val="444444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  <a:p>
                <a:pPr marL="0" indent="0">
                  <a:lnSpc>
                    <a:spcPct val="95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500" dirty="0">
                  <a:solidFill>
                    <a:srgbClr val="444444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  <a:p>
                <a:pPr marL="0" indent="0">
                  <a:lnSpc>
                    <a:spcPct val="95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500" dirty="0">
                  <a:ea typeface="ＭＳ Ｐゴシック" panose="020B0600070205080204" pitchFamily="34" charset="-128"/>
                </a:endParaRPr>
              </a:p>
              <a:p>
                <a:pPr marL="0" indent="0">
                  <a:lnSpc>
                    <a:spcPct val="95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en-US" sz="2500" dirty="0">
                    <a:solidFill>
                      <a:srgbClr val="444444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Dijkstra’s algorithm: mimics BFS without explicitly subdivision.  </a:t>
                </a:r>
                <a:endParaRPr lang="en-US" altLang="en-US" sz="2500" dirty="0">
                  <a:ea typeface="ＭＳ Ｐゴシック" panose="020B0600070205080204" pitchFamily="34" charset="-128"/>
                </a:endParaRPr>
              </a:p>
              <a:p>
                <a:pPr marL="0" indent="0">
                  <a:lnSpc>
                    <a:spcPct val="95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500" b="1" dirty="0">
                  <a:solidFill>
                    <a:srgbClr val="444444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  <a:p>
                <a:pPr marL="0" indent="0">
                  <a:lnSpc>
                    <a:spcPct val="95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US" altLang="en-US" sz="2500" i="1" dirty="0" smtClean="0">
                        <a:solidFill>
                          <a:srgbClr val="444444"/>
                        </a:solidFill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𝛿</m:t>
                    </m:r>
                    <m:r>
                      <a:rPr lang="en-US" altLang="en-US" sz="2500" i="1" dirty="0" smtClean="0">
                        <a:solidFill>
                          <a:srgbClr val="444444"/>
                        </a:solidFill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(</m:t>
                    </m:r>
                    <m:r>
                      <a:rPr lang="en-US" altLang="en-US" sz="2500" i="1" dirty="0" smtClean="0">
                        <a:solidFill>
                          <a:srgbClr val="444444"/>
                        </a:solidFill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𝑢</m:t>
                    </m:r>
                    <m:r>
                      <a:rPr lang="en-US" altLang="en-US" sz="2500" i="1" dirty="0" smtClean="0">
                        <a:solidFill>
                          <a:srgbClr val="444444"/>
                        </a:solidFill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): </m:t>
                    </m:r>
                  </m:oMath>
                </a14:m>
                <a:r>
                  <a:rPr lang="en-US" altLang="en-US" sz="2500" dirty="0">
                    <a:solidFill>
                      <a:srgbClr val="444444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shortest path from s to u. </a:t>
                </a:r>
              </a:p>
              <a:p>
                <a:pPr marL="0" indent="0">
                  <a:lnSpc>
                    <a:spcPct val="95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500" dirty="0">
                  <a:solidFill>
                    <a:srgbClr val="444444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  <a:p>
                <a:pPr marL="0" indent="0">
                  <a:lnSpc>
                    <a:spcPct val="95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en-US" sz="2500" dirty="0">
                    <a:solidFill>
                      <a:srgbClr val="444444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Order vertices from increasing distance from s to u:</a:t>
                </a:r>
              </a:p>
              <a:p>
                <a:pPr marL="0" indent="0">
                  <a:lnSpc>
                    <a:spcPct val="95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en-US" sz="2500" dirty="0">
                    <a:solidFill>
                      <a:srgbClr val="444444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500" i="1" dirty="0" smtClean="0">
                            <a:solidFill>
                              <a:srgbClr val="444444"/>
                            </a:solidFill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en-US" sz="2500" i="1" dirty="0" smtClean="0">
                            <a:solidFill>
                              <a:srgbClr val="444444"/>
                            </a:solidFill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𝑢</m:t>
                        </m:r>
                      </m:e>
                      <m:sub>
                        <m:r>
                          <a:rPr lang="en-US" altLang="en-US" sz="2500" i="1" dirty="0" smtClean="0">
                            <a:solidFill>
                              <a:srgbClr val="444444"/>
                            </a:solidFill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1</m:t>
                        </m:r>
                      </m:sub>
                    </m:sSub>
                    <m:r>
                      <a:rPr lang="en-US" altLang="en-US" sz="2500" i="1" dirty="0" smtClean="0">
                        <a:solidFill>
                          <a:srgbClr val="444444"/>
                        </a:solidFill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, </m:t>
                    </m:r>
                    <m:sSub>
                      <m:sSubPr>
                        <m:ctrlPr>
                          <a:rPr lang="en-US" altLang="en-US" sz="2500" i="1" dirty="0" smtClean="0">
                            <a:solidFill>
                              <a:srgbClr val="444444"/>
                            </a:solidFill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en-US" sz="2500" i="1" dirty="0" smtClean="0">
                            <a:solidFill>
                              <a:srgbClr val="444444"/>
                            </a:solidFill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𝑢</m:t>
                        </m:r>
                      </m:e>
                      <m:sub>
                        <m:r>
                          <a:rPr lang="en-US" altLang="en-US" sz="2500" i="1" dirty="0" smtClean="0">
                            <a:solidFill>
                              <a:srgbClr val="444444"/>
                            </a:solidFill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2</m:t>
                        </m:r>
                      </m:sub>
                    </m:sSub>
                    <m:r>
                      <a:rPr lang="en-US" altLang="en-US" sz="2500" i="1" dirty="0" smtClean="0">
                        <a:solidFill>
                          <a:srgbClr val="444444"/>
                        </a:solidFill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, …, </m:t>
                    </m:r>
                    <m:sSub>
                      <m:sSubPr>
                        <m:ctrlPr>
                          <a:rPr lang="en-US" altLang="en-US" sz="2500" i="1" dirty="0" smtClean="0">
                            <a:solidFill>
                              <a:srgbClr val="444444"/>
                            </a:solidFill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en-US" sz="2500" i="1" dirty="0" smtClean="0">
                            <a:solidFill>
                              <a:srgbClr val="444444"/>
                            </a:solidFill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𝑢</m:t>
                        </m:r>
                      </m:e>
                      <m:sub>
                        <m:r>
                          <a:rPr lang="en-US" altLang="en-US" sz="2500" i="1" dirty="0" smtClean="0">
                            <a:solidFill>
                              <a:srgbClr val="444444"/>
                            </a:solidFill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𝑛</m:t>
                        </m:r>
                      </m:sub>
                    </m:sSub>
                  </m:oMath>
                </a14:m>
                <a:endParaRPr lang="en-IN" altLang="en-US" sz="2500" i="1" dirty="0">
                  <a:solidFill>
                    <a:srgbClr val="444444"/>
                  </a:solidFill>
                  <a:latin typeface="Cambria Math" panose="02040503050406030204" pitchFamily="18" charset="0"/>
                  <a:ea typeface="ＭＳ Ｐゴシック" panose="020B0600070205080204" pitchFamily="34" charset="-128"/>
                </a:endParaRPr>
              </a:p>
              <a:p>
                <a:pPr marL="0" indent="0">
                  <a:lnSpc>
                    <a:spcPct val="95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IN" altLang="en-US" sz="2500" b="0" i="1" dirty="0">
                  <a:solidFill>
                    <a:srgbClr val="444444"/>
                  </a:solidFill>
                  <a:latin typeface="Cambria Math" panose="02040503050406030204" pitchFamily="18" charset="0"/>
                  <a:ea typeface="ＭＳ Ｐゴシック" panose="020B0600070205080204" pitchFamily="34" charset="-128"/>
                </a:endParaRPr>
              </a:p>
              <a:p>
                <a:pPr marL="0" indent="0">
                  <a:lnSpc>
                    <a:spcPct val="95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IN" altLang="en-US" sz="2500" dirty="0">
                    <a:solidFill>
                      <a:srgbClr val="444444"/>
                    </a:solidFill>
                    <a:latin typeface="Cambria Math" panose="02040503050406030204" pitchFamily="18" charset="0"/>
                    <a:ea typeface="ＭＳ Ｐゴシック" panose="020B0600070205080204" pitchFamily="34" charset="-128"/>
                  </a:rPr>
                  <a:t>The algorithm runs in n iterations: in iteration i, it finds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altLang="en-US" sz="2500" i="1" dirty="0" smtClean="0">
                            <a:solidFill>
                              <a:srgbClr val="444444"/>
                            </a:solidFill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IN" altLang="en-US" sz="2500" i="1" dirty="0" smtClean="0">
                            <a:solidFill>
                              <a:srgbClr val="444444"/>
                            </a:solidFill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𝑢</m:t>
                        </m:r>
                      </m:e>
                      <m:sub>
                        <m:r>
                          <a:rPr lang="en-IN" altLang="en-US" sz="2500" i="1" dirty="0" smtClean="0">
                            <a:solidFill>
                              <a:srgbClr val="444444"/>
                            </a:solidFill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altLang="en-US" sz="2500" dirty="0">
                    <a:solidFill>
                      <a:srgbClr val="444444"/>
                    </a:solidFill>
                    <a:latin typeface="Cambria Math" panose="02040503050406030204" pitchFamily="18" charset="0"/>
                    <a:ea typeface="ＭＳ Ｐゴシック" panose="020B0600070205080204" pitchFamily="34" charset="-128"/>
                  </a:rPr>
                  <a:t> and</a:t>
                </a:r>
              </a:p>
              <a:p>
                <a:pPr marL="0" indent="0">
                  <a:lnSpc>
                    <a:spcPct val="95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altLang="en-US" sz="2500" b="0" i="1" dirty="0" smtClean="0">
                          <a:solidFill>
                            <a:srgbClr val="444444"/>
                          </a:solidFill>
                          <a:latin typeface="Cambria Math" panose="02040503050406030204" pitchFamily="18" charset="0"/>
                          <a:ea typeface="ＭＳ Ｐゴシック" panose="020B0600070205080204" pitchFamily="34" charset="-128"/>
                        </a:rPr>
                        <m:t>𝛿</m:t>
                      </m:r>
                      <m:r>
                        <a:rPr lang="en-IN" altLang="en-US" sz="2500" b="0" i="1" dirty="0" smtClean="0">
                          <a:solidFill>
                            <a:srgbClr val="444444"/>
                          </a:solidFill>
                          <a:latin typeface="Cambria Math" panose="02040503050406030204" pitchFamily="18" charset="0"/>
                          <a:ea typeface="ＭＳ Ｐゴシック" panose="020B0600070205080204" pitchFamily="34" charset="-128"/>
                        </a:rPr>
                        <m:t>(</m:t>
                      </m:r>
                      <m:sSub>
                        <m:sSubPr>
                          <m:ctrlPr>
                            <a:rPr lang="en-IN" altLang="en-US" sz="2500" b="0" i="1" dirty="0" smtClean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</m:ctrlPr>
                        </m:sSubPr>
                        <m:e>
                          <m:r>
                            <a:rPr lang="en-IN" altLang="en-US" sz="2500" b="0" i="1" dirty="0" smtClean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𝑢</m:t>
                          </m:r>
                        </m:e>
                        <m:sub>
                          <m:r>
                            <a:rPr lang="en-IN" altLang="en-US" sz="2500" b="0" i="1" dirty="0" smtClean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𝑖</m:t>
                          </m:r>
                        </m:sub>
                      </m:sSub>
                      <m:r>
                        <a:rPr lang="en-IN" altLang="en-US" sz="2500" b="0" i="1" dirty="0" smtClean="0">
                          <a:solidFill>
                            <a:srgbClr val="444444"/>
                          </a:solidFill>
                          <a:latin typeface="Cambria Math" panose="02040503050406030204" pitchFamily="18" charset="0"/>
                          <a:ea typeface="ＭＳ Ｐゴシック" panose="020B0600070205080204" pitchFamily="34" charset="-128"/>
                        </a:rPr>
                        <m:t>).    </m:t>
                      </m:r>
                    </m:oMath>
                  </m:oMathPara>
                </a14:m>
                <a:endParaRPr lang="en-US" altLang="en-US" sz="2500" dirty="0">
                  <a:solidFill>
                    <a:srgbClr val="444444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mc:Choice>
        <mc:Fallback xmlns="">
          <p:sp>
            <p:nvSpPr>
              <p:cNvPr id="7171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20663" y="1171575"/>
                <a:ext cx="8923337" cy="4938713"/>
              </a:xfrm>
              <a:blipFill rotWithShape="0">
                <a:blip r:embed="rId2"/>
                <a:stretch>
                  <a:fillRect l="-2117" t="-2222" r="-342" b="-129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8601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/>
          <p:cNvSpPr>
            <a:spLocks noGrp="1" noChangeArrowheads="1"/>
          </p:cNvSpPr>
          <p:nvPr>
            <p:ph type="title"/>
          </p:nvPr>
        </p:nvSpPr>
        <p:spPr>
          <a:xfrm>
            <a:off x="69850" y="106473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altLang="en-US" sz="3900" b="1" dirty="0">
                <a:solidFill>
                  <a:srgbClr val="3B62A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Dijkstra's algorithm: motivation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How to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?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16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9012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/>
          <p:cNvSpPr>
            <a:spLocks noGrp="1" noChangeArrowheads="1"/>
          </p:cNvSpPr>
          <p:nvPr>
            <p:ph type="title"/>
          </p:nvPr>
        </p:nvSpPr>
        <p:spPr>
          <a:xfrm>
            <a:off x="69850" y="106473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altLang="en-US" sz="3900" b="1">
                <a:solidFill>
                  <a:srgbClr val="3B62A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Dijkstra's algorithm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Suppose after iteration </a:t>
                </a:r>
                <a:r>
                  <a:rPr lang="en-IN" dirty="0" err="1"/>
                  <a:t>i</a:t>
                </a:r>
                <a:r>
                  <a:rPr lang="en-IN" dirty="0"/>
                  <a:t>, we know the set </a:t>
                </a:r>
              </a:p>
              <a:p>
                <a:pPr marL="0" indent="0">
                  <a:buNone/>
                </a:pPr>
                <a:r>
                  <a:rPr lang="en-IN" dirty="0"/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i="1" dirty="0" smtClean="0">
                        <a:latin typeface="Cambria Math" panose="02040503050406030204" pitchFamily="18" charset="0"/>
                      </a:rPr>
                      <m:t> = {</m:t>
                    </m:r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1" dirty="0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IN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err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i="1" dirty="0" smtClean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IN" dirty="0"/>
                  <a:t>and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1" dirty="0" smtClean="0">
                        <a:latin typeface="Cambria Math" panose="02040503050406030204" pitchFamily="18" charset="0"/>
                      </a:rPr>
                      <m:t>), …, 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err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i="1" dirty="0" smtClean="0">
                        <a:latin typeface="Cambria Math" panose="02040503050406030204" pitchFamily="18" charset="0"/>
                      </a:rPr>
                      <m:t>). </m:t>
                    </m:r>
                  </m:oMath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How to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IN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?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/>
          <p:cNvSpPr>
            <a:spLocks noGrp="1" noChangeArrowheads="1"/>
          </p:cNvSpPr>
          <p:nvPr>
            <p:ph type="title"/>
          </p:nvPr>
        </p:nvSpPr>
        <p:spPr>
          <a:xfrm>
            <a:off x="69850" y="106473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altLang="en-US" sz="3900" b="1">
                <a:solidFill>
                  <a:srgbClr val="3B62A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Dijkstra's algorithm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Suppose after iteration </a:t>
                </a:r>
                <a:r>
                  <a:rPr lang="en-IN" dirty="0" err="1"/>
                  <a:t>i</a:t>
                </a:r>
                <a:r>
                  <a:rPr lang="en-IN" dirty="0"/>
                  <a:t>, we know the set </a:t>
                </a:r>
              </a:p>
              <a:p>
                <a:pPr marL="0" indent="0">
                  <a:buNone/>
                </a:pPr>
                <a:r>
                  <a:rPr lang="en-IN" dirty="0"/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i="1" dirty="0" smtClean="0">
                        <a:latin typeface="Cambria Math" panose="02040503050406030204" pitchFamily="18" charset="0"/>
                      </a:rPr>
                      <m:t> = {</m:t>
                    </m:r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1" dirty="0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IN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err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i="1" dirty="0" smtClean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IN" dirty="0"/>
                  <a:t>and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1" dirty="0" smtClean="0">
                        <a:latin typeface="Cambria Math" panose="02040503050406030204" pitchFamily="18" charset="0"/>
                      </a:rPr>
                      <m:t>), …, 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err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i="1" dirty="0" smtClean="0">
                        <a:latin typeface="Cambria Math" panose="02040503050406030204" pitchFamily="18" charset="0"/>
                      </a:rPr>
                      <m:t>). </m:t>
                    </m:r>
                  </m:oMath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How to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IN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?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>
                    <a:solidFill>
                      <a:srgbClr val="FF0000"/>
                    </a:solidFill>
                  </a:rPr>
                  <a:t>Idea: </a:t>
                </a:r>
                <a:r>
                  <a:rPr lang="en-IN" dirty="0"/>
                  <a:t>for each u not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dirty="0"/>
                  <a:t>, find the shortest path from s to u which only uses vertices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rgbClr val="FF000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852" t="-1752" r="-2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248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/>
          <p:cNvSpPr>
            <a:spLocks noGrp="1" noChangeArrowheads="1"/>
          </p:cNvSpPr>
          <p:nvPr>
            <p:ph type="title"/>
          </p:nvPr>
        </p:nvSpPr>
        <p:spPr>
          <a:xfrm>
            <a:off x="69850" y="106473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altLang="en-US" sz="3900" b="1">
                <a:solidFill>
                  <a:srgbClr val="3B62A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Dijkstra's algorithm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54847"/>
                <a:ext cx="82296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dirty="0">
                    <a:solidFill>
                      <a:srgbClr val="FF0000"/>
                    </a:solidFill>
                  </a:rPr>
                  <a:t>Idea: </a:t>
                </a:r>
                <a:r>
                  <a:rPr lang="en-IN" dirty="0"/>
                  <a:t>for each u not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dirty="0"/>
                  <a:t>, find the shortest path from s to u which only uses vertices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rgbClr val="FF000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endParaRPr lang="en-IN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IN" dirty="0">
                    <a:solidFill>
                      <a:srgbClr val="FF0000"/>
                    </a:solidFill>
                  </a:rPr>
                  <a:t>Call this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IN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I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I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IN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IN" b="0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IN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IN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en-IN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IN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r>
                          <a:rPr lang="en-I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en-IN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I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𝑤𝑡</m:t>
                        </m:r>
                        <m:d>
                          <m:dPr>
                            <m:ctrlPr>
                              <a:rPr lang="en-IN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IN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I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IN" b="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IN" dirty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endParaRPr lang="en-IN" b="0" dirty="0"/>
              </a:p>
              <a:p>
                <a:pPr marL="0" indent="0">
                  <a:buNone/>
                </a:pPr>
                <a:r>
                  <a:rPr lang="en-IN" b="0" dirty="0"/>
                  <a:t>For other vertices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∉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b="0" dirty="0"/>
              </a:p>
              <a:p>
                <a:pPr marL="0" indent="0">
                  <a:buNone/>
                </a:pPr>
                <a:r>
                  <a:rPr lang="en-IN" dirty="0"/>
                  <a:t>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 ∀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∉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IN" b="0" dirty="0"/>
              </a:p>
              <a:p>
                <a:pPr marL="0" indent="0">
                  <a:buNone/>
                </a:pPr>
                <a:endParaRPr lang="en-IN" b="0" dirty="0"/>
              </a:p>
              <a:p>
                <a:pPr marL="0" indent="0">
                  <a:buNone/>
                </a:pPr>
                <a:endParaRPr lang="en-IN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IN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IN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IN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54847"/>
                <a:ext cx="8229600" cy="4525963"/>
              </a:xfrm>
              <a:blipFill>
                <a:blip r:embed="rId2"/>
                <a:stretch>
                  <a:fillRect l="-1852" t="-1617" r="-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CE8C994-9D95-7E1F-C987-F02A8DAEBC45}"/>
              </a:ext>
            </a:extLst>
          </p:cNvPr>
          <p:cNvSpPr txBox="1"/>
          <p:nvPr/>
        </p:nvSpPr>
        <p:spPr>
          <a:xfrm>
            <a:off x="5602682" y="4545572"/>
            <a:ext cx="536483" cy="64633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600">
                <a:cs typeface="Arial"/>
              </a:rPr>
              <a:t>≤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2067050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/>
          <p:cNvSpPr>
            <a:spLocks noGrp="1" noChangeArrowheads="1"/>
          </p:cNvSpPr>
          <p:nvPr>
            <p:ph type="title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altLang="en-US" sz="3900" b="1">
                <a:solidFill>
                  <a:srgbClr val="3B62A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Dijkstra's algorithm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882869" y="1939159"/>
                <a:ext cx="5607269" cy="37205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Initialize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I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IN" i="1" dirty="0" smtClean="0">
                        <a:latin typeface="Cambria Math" panose="02040503050406030204" pitchFamily="18" charset="0"/>
                      </a:rPr>
                      <m:t>= 0.</m:t>
                    </m:r>
                  </m:oMath>
                </a14:m>
                <a:r>
                  <a:rPr lang="en-IN" i="1" dirty="0">
                    <a:latin typeface="Cambria Math" panose="02040503050406030204" pitchFamily="18" charset="0"/>
                  </a:rPr>
                  <a:t> </a:t>
                </a:r>
              </a:p>
              <a:p>
                <a:endParaRPr lang="en-IN" i="1" dirty="0">
                  <a:latin typeface="Cambria Math" panose="02040503050406030204" pitchFamily="18" charset="0"/>
                </a:endParaRPr>
              </a:p>
              <a:p>
                <a:r>
                  <a:rPr lang="en-IN" dirty="0">
                    <a:latin typeface="Cambria Math" panose="02040503050406030204" pitchFamily="18" charset="0"/>
                  </a:rPr>
                  <a:t>For </a:t>
                </a:r>
                <a:r>
                  <a:rPr lang="en-IN" dirty="0" err="1">
                    <a:latin typeface="Cambria Math" panose="02040503050406030204" pitchFamily="18" charset="0"/>
                  </a:rPr>
                  <a:t>i</a:t>
                </a:r>
                <a:r>
                  <a:rPr lang="en-IN" dirty="0">
                    <a:latin typeface="Cambria Math" panose="02040503050406030204" pitchFamily="18" charset="0"/>
                  </a:rPr>
                  <a:t>=1, …, n-1</a:t>
                </a:r>
              </a:p>
              <a:p>
                <a:endParaRPr lang="en-IN" dirty="0">
                  <a:latin typeface="Cambria Math" panose="02040503050406030204" pitchFamily="18" charset="0"/>
                </a:endParaRPr>
              </a:p>
              <a:p>
                <a:r>
                  <a:rPr lang="en-IN" dirty="0">
                    <a:latin typeface="Cambria Math" panose="02040503050406030204" pitchFamily="18" charset="0"/>
                  </a:rPr>
                  <a:t>      For every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∉ </m:t>
                    </m:r>
                    <m:sSub>
                      <m:sSubPr>
                        <m:ctrlPr>
                          <a:rPr lang="en-IN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err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i="1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IN" dirty="0">
                  <a:latin typeface="Cambria Math" panose="02040503050406030204" pitchFamily="18" charset="0"/>
                </a:endParaRPr>
              </a:p>
              <a:p>
                <a:r>
                  <a:rPr lang="en-IN" dirty="0">
                    <a:latin typeface="Cambria Math" panose="02040503050406030204" pitchFamily="18" charset="0"/>
                  </a:rPr>
                  <a:t>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IN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𝑤𝑡</m:t>
                        </m:r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IN" dirty="0">
                  <a:latin typeface="Cambria Math" panose="02040503050406030204" pitchFamily="18" charset="0"/>
                </a:endParaRPr>
              </a:p>
              <a:p>
                <a:endParaRPr lang="en-IN" dirty="0">
                  <a:latin typeface="Cambria Math" panose="02040503050406030204" pitchFamily="18" charset="0"/>
                </a:endParaRPr>
              </a:p>
              <a:p>
                <a:r>
                  <a:rPr lang="en-IN" dirty="0">
                    <a:latin typeface="Cambria Math" panose="02040503050406030204" pitchFamily="18" charset="0"/>
                  </a:rPr>
                  <a:t>       Let u* be the vertex with min.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IN" dirty="0">
                  <a:latin typeface="Cambria Math" panose="02040503050406030204" pitchFamily="18" charset="0"/>
                </a:endParaRPr>
              </a:p>
              <a:p>
                <a:endParaRPr lang="en-IN" dirty="0">
                  <a:latin typeface="Cambria Math" panose="02040503050406030204" pitchFamily="18" charset="0"/>
                </a:endParaRPr>
              </a:p>
              <a:p>
                <a:r>
                  <a:rPr lang="en-IN" dirty="0">
                    <a:latin typeface="Cambria Math" panose="02040503050406030204" pitchFamily="18" charset="0"/>
                  </a:rPr>
                  <a:t>       Set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>
                    <a:latin typeface="Cambria Math" panose="02040503050406030204" pitchFamily="18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∪{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IN" dirty="0">
                  <a:latin typeface="Cambria Math" panose="02040503050406030204" pitchFamily="18" charset="0"/>
                </a:endParaRPr>
              </a:p>
              <a:p>
                <a:endParaRPr lang="en-IN" dirty="0">
                  <a:latin typeface="Cambria Math" panose="02040503050406030204" pitchFamily="18" charset="0"/>
                </a:endParaRPr>
              </a:p>
              <a:p>
                <a:endParaRPr lang="en-IN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869" y="1939159"/>
                <a:ext cx="5607269" cy="3720506"/>
              </a:xfrm>
              <a:prstGeom prst="rect">
                <a:avLst/>
              </a:prstGeom>
              <a:blipFill rotWithShape="0">
                <a:blip r:embed="rId2"/>
                <a:stretch>
                  <a:fillRect l="-978" t="-8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5336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/>
          <p:cNvSpPr>
            <a:spLocks noGrp="1" noChangeArrowheads="1"/>
          </p:cNvSpPr>
          <p:nvPr>
            <p:ph type="title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altLang="en-US" sz="3900" b="1">
                <a:solidFill>
                  <a:srgbClr val="3B62A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Dijkstra's algorithm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Correctness: consider iteration </a:t>
                </a:r>
                <a:r>
                  <a:rPr lang="en-IN" dirty="0" err="1"/>
                  <a:t>i</a:t>
                </a:r>
                <a:r>
                  <a:rPr lang="en-IN" dirty="0"/>
                  <a:t> and let u* be the vertex for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i="1" dirty="0" smtClean="0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IN" i="1" dirty="0" smtClean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IN" dirty="0"/>
                  <a:t>is minimum. </a:t>
                </a:r>
              </a:p>
              <a:p>
                <a:r>
                  <a:rPr lang="en-IN" dirty="0"/>
                  <a:t>Need to show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i="1" dirty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IN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  ∀ 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∉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1752" r="-5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/>
          <p:cNvSpPr>
            <a:spLocks noGrp="1" noChangeArrowheads="1"/>
          </p:cNvSpPr>
          <p:nvPr>
            <p:ph type="title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altLang="en-US" sz="3900" b="1">
                <a:solidFill>
                  <a:srgbClr val="3B62A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Dijkstra's algorithm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882869" y="1939159"/>
                <a:ext cx="5607269" cy="37205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Initialize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I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IN" i="1" dirty="0" smtClean="0">
                        <a:latin typeface="Cambria Math" panose="02040503050406030204" pitchFamily="18" charset="0"/>
                      </a:rPr>
                      <m:t>= 0.</m:t>
                    </m:r>
                  </m:oMath>
                </a14:m>
                <a:r>
                  <a:rPr lang="en-IN" i="1" dirty="0">
                    <a:latin typeface="Cambria Math" panose="02040503050406030204" pitchFamily="18" charset="0"/>
                  </a:rPr>
                  <a:t> </a:t>
                </a:r>
              </a:p>
              <a:p>
                <a:endParaRPr lang="en-IN" i="1" dirty="0">
                  <a:latin typeface="Cambria Math" panose="02040503050406030204" pitchFamily="18" charset="0"/>
                </a:endParaRPr>
              </a:p>
              <a:p>
                <a:r>
                  <a:rPr lang="en-IN" dirty="0">
                    <a:latin typeface="Cambria Math" panose="02040503050406030204" pitchFamily="18" charset="0"/>
                  </a:rPr>
                  <a:t>For </a:t>
                </a:r>
                <a:r>
                  <a:rPr lang="en-IN" dirty="0" err="1">
                    <a:latin typeface="Cambria Math" panose="02040503050406030204" pitchFamily="18" charset="0"/>
                  </a:rPr>
                  <a:t>i</a:t>
                </a:r>
                <a:r>
                  <a:rPr lang="en-IN" dirty="0">
                    <a:latin typeface="Cambria Math" panose="02040503050406030204" pitchFamily="18" charset="0"/>
                  </a:rPr>
                  <a:t>=1, …, n-1</a:t>
                </a:r>
              </a:p>
              <a:p>
                <a:endParaRPr lang="en-IN" dirty="0">
                  <a:latin typeface="Cambria Math" panose="02040503050406030204" pitchFamily="18" charset="0"/>
                </a:endParaRPr>
              </a:p>
              <a:p>
                <a:r>
                  <a:rPr lang="en-IN" dirty="0">
                    <a:latin typeface="Cambria Math" panose="02040503050406030204" pitchFamily="18" charset="0"/>
                  </a:rPr>
                  <a:t>      For every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∉ </m:t>
                    </m:r>
                    <m:sSub>
                      <m:sSubPr>
                        <m:ctrlPr>
                          <a:rPr lang="en-IN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err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i="1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IN" dirty="0">
                  <a:latin typeface="Cambria Math" panose="02040503050406030204" pitchFamily="18" charset="0"/>
                </a:endParaRPr>
              </a:p>
              <a:p>
                <a:r>
                  <a:rPr lang="en-IN" dirty="0">
                    <a:latin typeface="Cambria Math" panose="02040503050406030204" pitchFamily="18" charset="0"/>
                  </a:rPr>
                  <a:t>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IN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𝑤𝑡</m:t>
                        </m:r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IN" dirty="0">
                  <a:latin typeface="Cambria Math" panose="02040503050406030204" pitchFamily="18" charset="0"/>
                </a:endParaRPr>
              </a:p>
              <a:p>
                <a:endParaRPr lang="en-IN" dirty="0">
                  <a:latin typeface="Cambria Math" panose="02040503050406030204" pitchFamily="18" charset="0"/>
                </a:endParaRPr>
              </a:p>
              <a:p>
                <a:r>
                  <a:rPr lang="en-IN" dirty="0">
                    <a:latin typeface="Cambria Math" panose="02040503050406030204" pitchFamily="18" charset="0"/>
                  </a:rPr>
                  <a:t>       Let u* be the vertex with min.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IN" dirty="0">
                  <a:latin typeface="Cambria Math" panose="02040503050406030204" pitchFamily="18" charset="0"/>
                </a:endParaRPr>
              </a:p>
              <a:p>
                <a:endParaRPr lang="en-IN" dirty="0">
                  <a:latin typeface="Cambria Math" panose="02040503050406030204" pitchFamily="18" charset="0"/>
                </a:endParaRPr>
              </a:p>
              <a:p>
                <a:r>
                  <a:rPr lang="en-IN" dirty="0">
                    <a:latin typeface="Cambria Math" panose="02040503050406030204" pitchFamily="18" charset="0"/>
                  </a:rPr>
                  <a:t>       Set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>
                    <a:latin typeface="Cambria Math" panose="02040503050406030204" pitchFamily="18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∪{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IN" dirty="0">
                  <a:latin typeface="Cambria Math" panose="02040503050406030204" pitchFamily="18" charset="0"/>
                </a:endParaRPr>
              </a:p>
              <a:p>
                <a:endParaRPr lang="en-IN" dirty="0">
                  <a:latin typeface="Cambria Math" panose="02040503050406030204" pitchFamily="18" charset="0"/>
                </a:endParaRPr>
              </a:p>
              <a:p>
                <a:endParaRPr lang="en-IN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869" y="1939159"/>
                <a:ext cx="5607269" cy="3720506"/>
              </a:xfrm>
              <a:prstGeom prst="rect">
                <a:avLst/>
              </a:prstGeom>
              <a:blipFill rotWithShape="0">
                <a:blip r:embed="rId2"/>
                <a:stretch>
                  <a:fillRect l="-978" t="-8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2283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/>
          <p:cNvSpPr>
            <a:spLocks noGrp="1" noChangeArrowheads="1"/>
          </p:cNvSpPr>
          <p:nvPr>
            <p:ph type="title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altLang="en-US" sz="3900" b="1">
                <a:solidFill>
                  <a:srgbClr val="3B62A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Dijkstra's algorithm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882869" y="1939159"/>
                <a:ext cx="5607269" cy="37205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Initialize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I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IN" i="1" dirty="0" smtClean="0">
                        <a:latin typeface="Cambria Math" panose="02040503050406030204" pitchFamily="18" charset="0"/>
                      </a:rPr>
                      <m:t>= 0.</m:t>
                    </m:r>
                  </m:oMath>
                </a14:m>
                <a:r>
                  <a:rPr lang="en-IN" i="1" dirty="0">
                    <a:latin typeface="Cambria Math" panose="02040503050406030204" pitchFamily="18" charset="0"/>
                  </a:rPr>
                  <a:t> </a:t>
                </a:r>
              </a:p>
              <a:p>
                <a:endParaRPr lang="en-IN" i="1" dirty="0">
                  <a:latin typeface="Cambria Math" panose="02040503050406030204" pitchFamily="18" charset="0"/>
                </a:endParaRPr>
              </a:p>
              <a:p>
                <a:r>
                  <a:rPr lang="en-IN" dirty="0">
                    <a:latin typeface="Cambria Math" panose="02040503050406030204" pitchFamily="18" charset="0"/>
                  </a:rPr>
                  <a:t>For </a:t>
                </a:r>
                <a:r>
                  <a:rPr lang="en-IN" dirty="0" err="1">
                    <a:latin typeface="Cambria Math" panose="02040503050406030204" pitchFamily="18" charset="0"/>
                  </a:rPr>
                  <a:t>i</a:t>
                </a:r>
                <a:r>
                  <a:rPr lang="en-IN" dirty="0">
                    <a:latin typeface="Cambria Math" panose="02040503050406030204" pitchFamily="18" charset="0"/>
                  </a:rPr>
                  <a:t>=1, …, n-1</a:t>
                </a:r>
              </a:p>
              <a:p>
                <a:endParaRPr lang="en-IN" dirty="0">
                  <a:latin typeface="Cambria Math" panose="02040503050406030204" pitchFamily="18" charset="0"/>
                </a:endParaRPr>
              </a:p>
              <a:p>
                <a:r>
                  <a:rPr lang="en-IN" dirty="0">
                    <a:latin typeface="Cambria Math" panose="02040503050406030204" pitchFamily="18" charset="0"/>
                  </a:rPr>
                  <a:t>      For every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∉ </m:t>
                    </m:r>
                    <m:sSub>
                      <m:sSubPr>
                        <m:ctrlPr>
                          <a:rPr lang="en-IN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err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i="1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IN" dirty="0">
                  <a:latin typeface="Cambria Math" panose="02040503050406030204" pitchFamily="18" charset="0"/>
                </a:endParaRPr>
              </a:p>
              <a:p>
                <a:r>
                  <a:rPr lang="en-IN" dirty="0">
                    <a:latin typeface="Cambria Math" panose="02040503050406030204" pitchFamily="18" charset="0"/>
                  </a:rPr>
                  <a:t>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IN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𝑤𝑡</m:t>
                        </m:r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IN" dirty="0">
                  <a:latin typeface="Cambria Math" panose="02040503050406030204" pitchFamily="18" charset="0"/>
                </a:endParaRPr>
              </a:p>
              <a:p>
                <a:endParaRPr lang="en-IN" dirty="0">
                  <a:latin typeface="Cambria Math" panose="02040503050406030204" pitchFamily="18" charset="0"/>
                </a:endParaRPr>
              </a:p>
              <a:p>
                <a:r>
                  <a:rPr lang="en-IN" dirty="0">
                    <a:latin typeface="Cambria Math" panose="02040503050406030204" pitchFamily="18" charset="0"/>
                  </a:rPr>
                  <a:t>       Let u* be the vertex with min.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IN" dirty="0">
                  <a:latin typeface="Cambria Math" panose="02040503050406030204" pitchFamily="18" charset="0"/>
                </a:endParaRPr>
              </a:p>
              <a:p>
                <a:endParaRPr lang="en-IN" dirty="0">
                  <a:latin typeface="Cambria Math" panose="02040503050406030204" pitchFamily="18" charset="0"/>
                </a:endParaRPr>
              </a:p>
              <a:p>
                <a:r>
                  <a:rPr lang="en-IN" dirty="0">
                    <a:latin typeface="Cambria Math" panose="02040503050406030204" pitchFamily="18" charset="0"/>
                  </a:rPr>
                  <a:t>       Set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>
                    <a:latin typeface="Cambria Math" panose="02040503050406030204" pitchFamily="18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∪{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IN" dirty="0">
                  <a:latin typeface="Cambria Math" panose="02040503050406030204" pitchFamily="18" charset="0"/>
                </a:endParaRPr>
              </a:p>
              <a:p>
                <a:endParaRPr lang="en-IN" dirty="0">
                  <a:latin typeface="Cambria Math" panose="02040503050406030204" pitchFamily="18" charset="0"/>
                </a:endParaRPr>
              </a:p>
              <a:p>
                <a:endParaRPr lang="en-IN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869" y="1939159"/>
                <a:ext cx="5607269" cy="3720506"/>
              </a:xfrm>
              <a:prstGeom prst="rect">
                <a:avLst/>
              </a:prstGeom>
              <a:blipFill rotWithShape="0">
                <a:blip r:embed="rId2"/>
                <a:stretch>
                  <a:fillRect l="-978" t="-8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5218385" y="2075793"/>
            <a:ext cx="2165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Can we improve this code 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797972" y="2958662"/>
                <a:ext cx="3941380" cy="639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I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I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I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−1 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I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  <m:r>
                            <a:rPr lang="en-I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I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I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𝑤𝑡</m:t>
                          </m:r>
                          <m:d>
                            <m:dPr>
                              <m:ctrlPr>
                                <a:rPr lang="en-I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I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  <m:r>
                            <a:rPr lang="en-I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IN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7972" y="2958662"/>
                <a:ext cx="3941380" cy="639983"/>
              </a:xfrm>
              <a:prstGeom prst="rect">
                <a:avLst/>
              </a:prstGeom>
              <a:blipFill rotWithShape="0">
                <a:blip r:embed="rId3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7621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/>
          <p:cNvSpPr>
            <a:spLocks noGrp="1" noChangeArrowheads="1"/>
          </p:cNvSpPr>
          <p:nvPr>
            <p:ph type="title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altLang="en-US" sz="3900" b="1">
                <a:solidFill>
                  <a:srgbClr val="3B62A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Dijkstra's algorithm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882869" y="1939159"/>
                <a:ext cx="5607269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Initialize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=∅, 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=0, 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=∞, 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IN" i="1" dirty="0">
                  <a:latin typeface="Cambria Math" panose="02040503050406030204" pitchFamily="18" charset="0"/>
                </a:endParaRPr>
              </a:p>
              <a:p>
                <a:endParaRPr lang="en-IN" i="1" dirty="0">
                  <a:latin typeface="Cambria Math" panose="02040503050406030204" pitchFamily="18" charset="0"/>
                </a:endParaRPr>
              </a:p>
              <a:p>
                <a:r>
                  <a:rPr lang="en-IN" dirty="0">
                    <a:latin typeface="Cambria Math" panose="02040503050406030204" pitchFamily="18" charset="0"/>
                  </a:rPr>
                  <a:t>For </a:t>
                </a:r>
                <a:r>
                  <a:rPr lang="en-IN" dirty="0" err="1">
                    <a:latin typeface="Cambria Math" panose="02040503050406030204" pitchFamily="18" charset="0"/>
                  </a:rPr>
                  <a:t>i</a:t>
                </a:r>
                <a:r>
                  <a:rPr lang="en-IN" dirty="0">
                    <a:latin typeface="Cambria Math" panose="02040503050406030204" pitchFamily="18" charset="0"/>
                  </a:rPr>
                  <a:t>=1, …, n</a:t>
                </a:r>
              </a:p>
              <a:p>
                <a:endParaRPr lang="en-IN" dirty="0">
                  <a:latin typeface="Cambria Math" panose="02040503050406030204" pitchFamily="18" charset="0"/>
                </a:endParaRPr>
              </a:p>
              <a:p>
                <a:r>
                  <a:rPr lang="en-IN" dirty="0">
                    <a:latin typeface="Cambria Math" panose="02040503050406030204" pitchFamily="18" charset="0"/>
                  </a:rPr>
                  <a:t>      Let u* be the vertex with min.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IN" dirty="0">
                  <a:latin typeface="Cambria Math" panose="02040503050406030204" pitchFamily="18" charset="0"/>
                </a:endParaRPr>
              </a:p>
              <a:p>
                <a:r>
                  <a:rPr lang="en-IN" dirty="0">
                    <a:latin typeface="Cambria Math" panose="02040503050406030204" pitchFamily="18" charset="0"/>
                  </a:rPr>
                  <a:t>      </a:t>
                </a:r>
              </a:p>
              <a:p>
                <a:r>
                  <a:rPr lang="en-IN" dirty="0">
                    <a:latin typeface="Cambria Math" panose="02040503050406030204" pitchFamily="18" charset="0"/>
                  </a:rPr>
                  <a:t>       Add u* to S</a:t>
                </a:r>
              </a:p>
              <a:p>
                <a:endParaRPr lang="en-IN" dirty="0">
                  <a:latin typeface="Cambria Math" panose="02040503050406030204" pitchFamily="18" charset="0"/>
                </a:endParaRPr>
              </a:p>
              <a:p>
                <a:r>
                  <a:rPr lang="en-IN" dirty="0">
                    <a:latin typeface="Cambria Math" panose="02040503050406030204" pitchFamily="18" charset="0"/>
                  </a:rPr>
                  <a:t>      For every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IN" dirty="0">
                  <a:latin typeface="Cambria Math" panose="02040503050406030204" pitchFamily="18" charset="0"/>
                </a:endParaRPr>
              </a:p>
              <a:p>
                <a:r>
                  <a:rPr lang="en-IN" dirty="0">
                    <a:latin typeface="Cambria Math" panose="02040503050406030204" pitchFamily="18" charset="0"/>
                  </a:rPr>
                  <a:t>        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𝑤𝑡</m:t>
                        </m:r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IN" dirty="0">
                  <a:latin typeface="Cambria Math" panose="02040503050406030204" pitchFamily="18" charset="0"/>
                </a:endParaRPr>
              </a:p>
              <a:p>
                <a:endParaRPr lang="en-IN" dirty="0">
                  <a:latin typeface="Cambria Math" panose="02040503050406030204" pitchFamily="18" charset="0"/>
                </a:endParaRPr>
              </a:p>
              <a:p>
                <a:r>
                  <a:rPr lang="en-IN" dirty="0">
                    <a:latin typeface="Cambria Math" panose="02040503050406030204" pitchFamily="18" charset="0"/>
                  </a:rPr>
                  <a:t>       </a:t>
                </a:r>
              </a:p>
              <a:p>
                <a:r>
                  <a:rPr lang="en-IN" dirty="0">
                    <a:latin typeface="Cambria Math" panose="02040503050406030204" pitchFamily="18" charset="0"/>
                  </a:rPr>
                  <a:t>       </a:t>
                </a:r>
              </a:p>
              <a:p>
                <a:endParaRPr lang="en-IN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869" y="1939159"/>
                <a:ext cx="5607269" cy="4247317"/>
              </a:xfrm>
              <a:prstGeom prst="rect">
                <a:avLst/>
              </a:prstGeom>
              <a:blipFill rotWithShape="0">
                <a:blip r:embed="rId2"/>
                <a:stretch>
                  <a:fillRect l="-978" t="-7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04225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/>
          <p:cNvSpPr>
            <a:spLocks noGrp="1" noChangeArrowheads="1"/>
          </p:cNvSpPr>
          <p:nvPr>
            <p:ph type="title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altLang="en-US" sz="3900" b="1">
                <a:solidFill>
                  <a:srgbClr val="3B62A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Dijkstra's algorithm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882869" y="1939159"/>
                <a:ext cx="7567448" cy="5078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Initialize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=∅, 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=0, 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=∞, 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IN" i="1" dirty="0">
                  <a:latin typeface="Cambria Math" panose="02040503050406030204" pitchFamily="18" charset="0"/>
                </a:endParaRPr>
              </a:p>
              <a:p>
                <a:endParaRPr lang="en-IN" i="1" dirty="0">
                  <a:latin typeface="Cambria Math" panose="02040503050406030204" pitchFamily="18" charset="0"/>
                </a:endParaRPr>
              </a:p>
              <a:p>
                <a:r>
                  <a:rPr lang="en-IN" dirty="0">
                    <a:latin typeface="Cambria Math" panose="02040503050406030204" pitchFamily="18" charset="0"/>
                  </a:rPr>
                  <a:t>For </a:t>
                </a:r>
                <a:r>
                  <a:rPr lang="en-IN" dirty="0" err="1">
                    <a:latin typeface="Cambria Math" panose="02040503050406030204" pitchFamily="18" charset="0"/>
                  </a:rPr>
                  <a:t>i</a:t>
                </a:r>
                <a:r>
                  <a:rPr lang="en-IN" dirty="0">
                    <a:latin typeface="Cambria Math" panose="02040503050406030204" pitchFamily="18" charset="0"/>
                  </a:rPr>
                  <a:t>=1, …, n</a:t>
                </a:r>
              </a:p>
              <a:p>
                <a:endParaRPr lang="en-IN" dirty="0">
                  <a:latin typeface="Cambria Math" panose="02040503050406030204" pitchFamily="18" charset="0"/>
                </a:endParaRPr>
              </a:p>
              <a:p>
                <a:r>
                  <a:rPr lang="en-IN" dirty="0">
                    <a:latin typeface="Cambria Math" panose="02040503050406030204" pitchFamily="18" charset="0"/>
                  </a:rPr>
                  <a:t>      Let u* be the vertex with min.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IN" dirty="0">
                  <a:latin typeface="Cambria Math" panose="02040503050406030204" pitchFamily="18" charset="0"/>
                </a:endParaRPr>
              </a:p>
              <a:p>
                <a:r>
                  <a:rPr lang="en-IN" dirty="0">
                    <a:latin typeface="Cambria Math" panose="02040503050406030204" pitchFamily="18" charset="0"/>
                  </a:rPr>
                  <a:t>      </a:t>
                </a:r>
              </a:p>
              <a:p>
                <a:r>
                  <a:rPr lang="en-IN" dirty="0">
                    <a:latin typeface="Cambria Math" panose="02040503050406030204" pitchFamily="18" charset="0"/>
                  </a:rPr>
                  <a:t>       Add u* to S</a:t>
                </a:r>
              </a:p>
              <a:p>
                <a:endParaRPr lang="en-IN" dirty="0">
                  <a:latin typeface="Cambria Math" panose="02040503050406030204" pitchFamily="18" charset="0"/>
                </a:endParaRPr>
              </a:p>
              <a:p>
                <a:r>
                  <a:rPr lang="en-IN" dirty="0">
                    <a:latin typeface="Cambria Math" panose="02040503050406030204" pitchFamily="18" charset="0"/>
                  </a:rPr>
                  <a:t>      For every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IN" dirty="0">
                  <a:latin typeface="Cambria Math" panose="02040503050406030204" pitchFamily="18" charset="0"/>
                </a:endParaRPr>
              </a:p>
              <a:p>
                <a:r>
                  <a:rPr lang="en-IN" dirty="0">
                    <a:latin typeface="Cambria Math" panose="02040503050406030204" pitchFamily="18" charset="0"/>
                  </a:rPr>
                  <a:t>        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𝑤𝑡</m:t>
                        </m:r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IN" dirty="0">
                    <a:latin typeface="Cambria Math" panose="02040503050406030204" pitchFamily="18" charset="0"/>
                  </a:rPr>
                  <a:t> </a:t>
                </a:r>
              </a:p>
              <a:p>
                <a:r>
                  <a:rPr lang="en-IN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          : if min updated parent(u) = u*</a:t>
                </a:r>
              </a:p>
              <a:p>
                <a:endParaRPr lang="en-IN" dirty="0">
                  <a:latin typeface="Cambria Math" panose="02040503050406030204" pitchFamily="18" charset="0"/>
                </a:endParaRPr>
              </a:p>
              <a:p>
                <a:r>
                  <a:rPr lang="en-IN" dirty="0">
                    <a:latin typeface="Cambria Math" panose="02040503050406030204" pitchFamily="18" charset="0"/>
                  </a:rPr>
                  <a:t>       </a:t>
                </a:r>
              </a:p>
              <a:p>
                <a:endParaRPr lang="en-IN" dirty="0">
                  <a:latin typeface="Cambria Math" panose="02040503050406030204" pitchFamily="18" charset="0"/>
                </a:endParaRPr>
              </a:p>
              <a:p>
                <a:r>
                  <a:rPr lang="en-IN" dirty="0">
                    <a:latin typeface="Cambria Math" panose="02040503050406030204" pitchFamily="18" charset="0"/>
                  </a:rPr>
                  <a:t>       </a:t>
                </a:r>
              </a:p>
              <a:p>
                <a:r>
                  <a:rPr lang="en-IN" dirty="0">
                    <a:latin typeface="Cambria Math" panose="02040503050406030204" pitchFamily="18" charset="0"/>
                  </a:rPr>
                  <a:t>       </a:t>
                </a:r>
              </a:p>
              <a:p>
                <a:endParaRPr lang="en-IN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869" y="1939159"/>
                <a:ext cx="7567448" cy="5078313"/>
              </a:xfrm>
              <a:prstGeom prst="rect">
                <a:avLst/>
              </a:prstGeom>
              <a:blipFill rotWithShape="0">
                <a:blip r:embed="rId2"/>
                <a:stretch>
                  <a:fillRect l="-725" t="-6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5864771" y="2653862"/>
            <a:ext cx="2322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How to find actual paths ? </a:t>
            </a:r>
          </a:p>
        </p:txBody>
      </p:sp>
    </p:spTree>
    <p:extLst>
      <p:ext uri="{BB962C8B-B14F-4D97-AF65-F5344CB8AC3E}">
        <p14:creationId xmlns:p14="http://schemas.microsoft.com/office/powerpoint/2010/main" val="3668605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/>
          <p:cNvSpPr>
            <a:spLocks noGrp="1" noChangeArrowheads="1"/>
          </p:cNvSpPr>
          <p:nvPr>
            <p:ph type="title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altLang="en-US" sz="3900" b="1" dirty="0">
                <a:solidFill>
                  <a:srgbClr val="3B62A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Implementation Details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882869" y="1939159"/>
                <a:ext cx="7567448" cy="5078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Initialize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=∅, 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=0, 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=∞, 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IN" i="1" dirty="0">
                  <a:latin typeface="Cambria Math" panose="02040503050406030204" pitchFamily="18" charset="0"/>
                </a:endParaRPr>
              </a:p>
              <a:p>
                <a:endParaRPr lang="en-IN" i="1" dirty="0">
                  <a:latin typeface="Cambria Math" panose="02040503050406030204" pitchFamily="18" charset="0"/>
                </a:endParaRPr>
              </a:p>
              <a:p>
                <a:r>
                  <a:rPr lang="en-IN" dirty="0">
                    <a:latin typeface="Cambria Math" panose="02040503050406030204" pitchFamily="18" charset="0"/>
                  </a:rPr>
                  <a:t>For </a:t>
                </a:r>
                <a:r>
                  <a:rPr lang="en-IN" dirty="0" err="1">
                    <a:latin typeface="Cambria Math" panose="02040503050406030204" pitchFamily="18" charset="0"/>
                  </a:rPr>
                  <a:t>i</a:t>
                </a:r>
                <a:r>
                  <a:rPr lang="en-IN" dirty="0">
                    <a:latin typeface="Cambria Math" panose="02040503050406030204" pitchFamily="18" charset="0"/>
                  </a:rPr>
                  <a:t>=1, …, n</a:t>
                </a:r>
              </a:p>
              <a:p>
                <a:endParaRPr lang="en-IN" dirty="0">
                  <a:latin typeface="Cambria Math" panose="02040503050406030204" pitchFamily="18" charset="0"/>
                </a:endParaRPr>
              </a:p>
              <a:p>
                <a:r>
                  <a:rPr lang="en-IN" dirty="0">
                    <a:latin typeface="Cambria Math" panose="02040503050406030204" pitchFamily="18" charset="0"/>
                  </a:rPr>
                  <a:t>      Let u* be the vertex with min.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IN" dirty="0">
                  <a:latin typeface="Cambria Math" panose="02040503050406030204" pitchFamily="18" charset="0"/>
                </a:endParaRPr>
              </a:p>
              <a:p>
                <a:r>
                  <a:rPr lang="en-IN" dirty="0">
                    <a:latin typeface="Cambria Math" panose="02040503050406030204" pitchFamily="18" charset="0"/>
                  </a:rPr>
                  <a:t>      </a:t>
                </a:r>
              </a:p>
              <a:p>
                <a:r>
                  <a:rPr lang="en-IN" dirty="0">
                    <a:latin typeface="Cambria Math" panose="02040503050406030204" pitchFamily="18" charset="0"/>
                  </a:rPr>
                  <a:t>       Add u* to S</a:t>
                </a:r>
              </a:p>
              <a:p>
                <a:endParaRPr lang="en-IN" dirty="0">
                  <a:latin typeface="Cambria Math" panose="02040503050406030204" pitchFamily="18" charset="0"/>
                </a:endParaRPr>
              </a:p>
              <a:p>
                <a:r>
                  <a:rPr lang="en-IN" dirty="0">
                    <a:latin typeface="Cambria Math" panose="02040503050406030204" pitchFamily="18" charset="0"/>
                  </a:rPr>
                  <a:t>      For every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IN" dirty="0">
                  <a:latin typeface="Cambria Math" panose="02040503050406030204" pitchFamily="18" charset="0"/>
                </a:endParaRPr>
              </a:p>
              <a:p>
                <a:r>
                  <a:rPr lang="en-IN" dirty="0">
                    <a:latin typeface="Cambria Math" panose="02040503050406030204" pitchFamily="18" charset="0"/>
                  </a:rPr>
                  <a:t>        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𝑤𝑡</m:t>
                        </m:r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IN" dirty="0">
                    <a:latin typeface="Cambria Math" panose="02040503050406030204" pitchFamily="18" charset="0"/>
                  </a:rPr>
                  <a:t> </a:t>
                </a:r>
              </a:p>
              <a:p>
                <a:r>
                  <a:rPr lang="en-IN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          : if min updated parent(u) = u*</a:t>
                </a:r>
              </a:p>
              <a:p>
                <a:endParaRPr lang="en-IN" dirty="0">
                  <a:latin typeface="Cambria Math" panose="02040503050406030204" pitchFamily="18" charset="0"/>
                </a:endParaRPr>
              </a:p>
              <a:p>
                <a:r>
                  <a:rPr lang="en-IN" dirty="0">
                    <a:latin typeface="Cambria Math" panose="02040503050406030204" pitchFamily="18" charset="0"/>
                  </a:rPr>
                  <a:t>       </a:t>
                </a:r>
              </a:p>
              <a:p>
                <a:endParaRPr lang="en-IN" dirty="0">
                  <a:latin typeface="Cambria Math" panose="02040503050406030204" pitchFamily="18" charset="0"/>
                </a:endParaRPr>
              </a:p>
              <a:p>
                <a:r>
                  <a:rPr lang="en-IN" dirty="0">
                    <a:latin typeface="Cambria Math" panose="02040503050406030204" pitchFamily="18" charset="0"/>
                  </a:rPr>
                  <a:t>       </a:t>
                </a:r>
              </a:p>
              <a:p>
                <a:r>
                  <a:rPr lang="en-IN" dirty="0">
                    <a:latin typeface="Cambria Math" panose="02040503050406030204" pitchFamily="18" charset="0"/>
                  </a:rPr>
                  <a:t>       </a:t>
                </a:r>
              </a:p>
              <a:p>
                <a:endParaRPr lang="en-IN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869" y="1939159"/>
                <a:ext cx="7567448" cy="5078313"/>
              </a:xfrm>
              <a:prstGeom prst="rect">
                <a:avLst/>
              </a:prstGeom>
              <a:blipFill rotWithShape="0">
                <a:blip r:embed="rId2"/>
                <a:stretch>
                  <a:fillRect l="-725" t="-6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667407" y="5181599"/>
            <a:ext cx="7667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Store S (and D[u] values) in a heap, : </a:t>
            </a:r>
            <a:r>
              <a:rPr lang="en-IN" dirty="0" err="1">
                <a:solidFill>
                  <a:srgbClr val="FF0000"/>
                </a:solidFill>
              </a:rPr>
              <a:t>deletemin</a:t>
            </a:r>
            <a:r>
              <a:rPr lang="en-IN" dirty="0">
                <a:solidFill>
                  <a:srgbClr val="FF0000"/>
                </a:solidFill>
              </a:rPr>
              <a:t> and decrease key</a:t>
            </a:r>
          </a:p>
          <a:p>
            <a:r>
              <a:rPr lang="en-IN" dirty="0">
                <a:solidFill>
                  <a:srgbClr val="FF0000"/>
                </a:solidFill>
              </a:rPr>
              <a:t>Maintain whether a vertex is in S using a Boolean array.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4269" y="5827930"/>
            <a:ext cx="3904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Running time: O(m log n)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6404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8AD7492-BA8D-479B-87DD-FD1D289D3F1E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Example: Initialization</a:t>
            </a:r>
          </a:p>
        </p:txBody>
      </p:sp>
      <p:sp>
        <p:nvSpPr>
          <p:cNvPr id="13316" name="Oval 3"/>
          <p:cNvSpPr>
            <a:spLocks noChangeArrowheads="1"/>
          </p:cNvSpPr>
          <p:nvPr/>
        </p:nvSpPr>
        <p:spPr bwMode="auto">
          <a:xfrm>
            <a:off x="3352800" y="2438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A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3317" name="Oval 4"/>
          <p:cNvSpPr>
            <a:spLocks noChangeArrowheads="1"/>
          </p:cNvSpPr>
          <p:nvPr/>
        </p:nvSpPr>
        <p:spPr bwMode="auto">
          <a:xfrm>
            <a:off x="54102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G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3318" name="Oval 5"/>
          <p:cNvSpPr>
            <a:spLocks noChangeArrowheads="1"/>
          </p:cNvSpPr>
          <p:nvPr/>
        </p:nvSpPr>
        <p:spPr bwMode="auto">
          <a:xfrm>
            <a:off x="33528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F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3319" name="AutoShape 6"/>
          <p:cNvCxnSpPr>
            <a:cxnSpLocks noChangeShapeType="1"/>
            <a:stCxn id="13317" idx="2"/>
            <a:endCxn id="13318" idx="6"/>
          </p:cNvCxnSpPr>
          <p:nvPr/>
        </p:nvCxnSpPr>
        <p:spPr bwMode="auto">
          <a:xfrm flipH="1">
            <a:off x="3810000" y="4953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20" name="AutoShape 7"/>
          <p:cNvCxnSpPr>
            <a:cxnSpLocks noChangeShapeType="1"/>
            <a:stCxn id="13332" idx="2"/>
            <a:endCxn id="13329" idx="6"/>
          </p:cNvCxnSpPr>
          <p:nvPr/>
        </p:nvCxnSpPr>
        <p:spPr bwMode="auto">
          <a:xfrm flipH="1">
            <a:off x="2819400" y="3810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21" name="AutoShape 8"/>
          <p:cNvCxnSpPr>
            <a:cxnSpLocks noChangeShapeType="1"/>
            <a:stCxn id="13316" idx="6"/>
            <a:endCxn id="13322" idx="2"/>
          </p:cNvCxnSpPr>
          <p:nvPr/>
        </p:nvCxnSpPr>
        <p:spPr bwMode="auto">
          <a:xfrm>
            <a:off x="3810000" y="2667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322" name="Oval 9"/>
          <p:cNvSpPr>
            <a:spLocks noChangeArrowheads="1"/>
          </p:cNvSpPr>
          <p:nvPr/>
        </p:nvSpPr>
        <p:spPr bwMode="auto">
          <a:xfrm>
            <a:off x="5410200" y="2438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B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3323" name="Oval 10"/>
          <p:cNvSpPr>
            <a:spLocks noChangeArrowheads="1"/>
          </p:cNvSpPr>
          <p:nvPr/>
        </p:nvSpPr>
        <p:spPr bwMode="auto">
          <a:xfrm>
            <a:off x="63246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E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3324" name="AutoShape 11"/>
          <p:cNvCxnSpPr>
            <a:cxnSpLocks noChangeShapeType="1"/>
            <a:stCxn id="13323" idx="2"/>
            <a:endCxn id="13332" idx="6"/>
          </p:cNvCxnSpPr>
          <p:nvPr/>
        </p:nvCxnSpPr>
        <p:spPr bwMode="auto">
          <a:xfrm flipH="1">
            <a:off x="4876800" y="3810000"/>
            <a:ext cx="14478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25" name="AutoShape 12"/>
          <p:cNvCxnSpPr>
            <a:cxnSpLocks noChangeShapeType="1"/>
            <a:stCxn id="13323" idx="1"/>
            <a:endCxn id="13322" idx="5"/>
          </p:cNvCxnSpPr>
          <p:nvPr/>
        </p:nvCxnSpPr>
        <p:spPr bwMode="auto">
          <a:xfrm flipH="1" flipV="1">
            <a:off x="5800725" y="2828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26" name="AutoShape 13"/>
          <p:cNvCxnSpPr>
            <a:cxnSpLocks noChangeShapeType="1"/>
            <a:stCxn id="13317" idx="7"/>
            <a:endCxn id="13323" idx="3"/>
          </p:cNvCxnSpPr>
          <p:nvPr/>
        </p:nvCxnSpPr>
        <p:spPr bwMode="auto">
          <a:xfrm flipV="1">
            <a:off x="5800725" y="3971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27" name="AutoShape 14"/>
          <p:cNvCxnSpPr>
            <a:cxnSpLocks noChangeShapeType="1"/>
            <a:stCxn id="13316" idx="5"/>
            <a:endCxn id="13332" idx="1"/>
          </p:cNvCxnSpPr>
          <p:nvPr/>
        </p:nvCxnSpPr>
        <p:spPr bwMode="auto">
          <a:xfrm>
            <a:off x="3743325" y="2828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28" name="AutoShape 15"/>
          <p:cNvCxnSpPr>
            <a:cxnSpLocks noChangeShapeType="1"/>
            <a:stCxn id="13322" idx="3"/>
            <a:endCxn id="13332" idx="7"/>
          </p:cNvCxnSpPr>
          <p:nvPr/>
        </p:nvCxnSpPr>
        <p:spPr bwMode="auto">
          <a:xfrm flipH="1">
            <a:off x="48101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329" name="Oval 16"/>
          <p:cNvSpPr>
            <a:spLocks noChangeArrowheads="1"/>
          </p:cNvSpPr>
          <p:nvPr/>
        </p:nvSpPr>
        <p:spPr bwMode="auto">
          <a:xfrm>
            <a:off x="23622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C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3330" name="AutoShape 17"/>
          <p:cNvCxnSpPr>
            <a:cxnSpLocks noChangeShapeType="1"/>
            <a:stCxn id="13329" idx="7"/>
            <a:endCxn id="13316" idx="3"/>
          </p:cNvCxnSpPr>
          <p:nvPr/>
        </p:nvCxnSpPr>
        <p:spPr bwMode="auto">
          <a:xfrm flipV="1">
            <a:off x="27527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31" name="AutoShape 18"/>
          <p:cNvCxnSpPr>
            <a:cxnSpLocks noChangeShapeType="1"/>
            <a:stCxn id="13318" idx="1"/>
            <a:endCxn id="13329" idx="5"/>
          </p:cNvCxnSpPr>
          <p:nvPr/>
        </p:nvCxnSpPr>
        <p:spPr bwMode="auto">
          <a:xfrm flipH="1" flipV="1">
            <a:off x="27527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332" name="Oval 19"/>
          <p:cNvSpPr>
            <a:spLocks noChangeArrowheads="1"/>
          </p:cNvSpPr>
          <p:nvPr/>
        </p:nvSpPr>
        <p:spPr bwMode="auto">
          <a:xfrm>
            <a:off x="44196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3333" name="AutoShape 20"/>
          <p:cNvCxnSpPr>
            <a:cxnSpLocks noChangeShapeType="1"/>
            <a:stCxn id="13317" idx="1"/>
            <a:endCxn id="13332" idx="5"/>
          </p:cNvCxnSpPr>
          <p:nvPr/>
        </p:nvCxnSpPr>
        <p:spPr bwMode="auto">
          <a:xfrm flipH="1" flipV="1">
            <a:off x="48101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34" name="AutoShape 21"/>
          <p:cNvCxnSpPr>
            <a:cxnSpLocks noChangeShapeType="1"/>
            <a:stCxn id="13318" idx="7"/>
            <a:endCxn id="13332" idx="3"/>
          </p:cNvCxnSpPr>
          <p:nvPr/>
        </p:nvCxnSpPr>
        <p:spPr bwMode="auto">
          <a:xfrm flipV="1">
            <a:off x="3743325" y="3971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335" name="Text Box 22"/>
          <p:cNvSpPr txBox="1">
            <a:spLocks noChangeArrowheads="1"/>
          </p:cNvSpPr>
          <p:nvPr/>
        </p:nvSpPr>
        <p:spPr bwMode="auto">
          <a:xfrm>
            <a:off x="2757488" y="3078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3336" name="Text Box 23"/>
          <p:cNvSpPr txBox="1">
            <a:spLocks noChangeArrowheads="1"/>
          </p:cNvSpPr>
          <p:nvPr/>
        </p:nvSpPr>
        <p:spPr bwMode="auto">
          <a:xfrm>
            <a:off x="4067175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3337" name="Text Box 24"/>
          <p:cNvSpPr txBox="1">
            <a:spLocks noChangeArrowheads="1"/>
          </p:cNvSpPr>
          <p:nvPr/>
        </p:nvSpPr>
        <p:spPr bwMode="auto">
          <a:xfrm>
            <a:off x="4495800" y="2438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3338" name="Text Box 25"/>
          <p:cNvSpPr txBox="1">
            <a:spLocks noChangeArrowheads="1"/>
          </p:cNvSpPr>
          <p:nvPr/>
        </p:nvSpPr>
        <p:spPr bwMode="auto">
          <a:xfrm>
            <a:off x="5973763" y="3063875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13339" name="Text Box 26"/>
          <p:cNvSpPr txBox="1">
            <a:spLocks noChangeArrowheads="1"/>
          </p:cNvSpPr>
          <p:nvPr/>
        </p:nvSpPr>
        <p:spPr bwMode="auto">
          <a:xfrm>
            <a:off x="4922838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3340" name="Text Box 27"/>
          <p:cNvSpPr txBox="1">
            <a:spLocks noChangeArrowheads="1"/>
          </p:cNvSpPr>
          <p:nvPr/>
        </p:nvSpPr>
        <p:spPr bwMode="auto">
          <a:xfrm>
            <a:off x="6172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3341" name="Text Box 28"/>
          <p:cNvSpPr txBox="1">
            <a:spLocks noChangeArrowheads="1"/>
          </p:cNvSpPr>
          <p:nvPr/>
        </p:nvSpPr>
        <p:spPr bwMode="auto">
          <a:xfrm>
            <a:off x="51816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3342" name="Text Box 29"/>
          <p:cNvSpPr txBox="1">
            <a:spLocks noChangeArrowheads="1"/>
          </p:cNvSpPr>
          <p:nvPr/>
        </p:nvSpPr>
        <p:spPr bwMode="auto">
          <a:xfrm>
            <a:off x="54864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3343" name="Text Box 30"/>
          <p:cNvSpPr txBox="1">
            <a:spLocks noChangeArrowheads="1"/>
          </p:cNvSpPr>
          <p:nvPr/>
        </p:nvSpPr>
        <p:spPr bwMode="auto">
          <a:xfrm>
            <a:off x="34290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3344" name="Text Box 31"/>
          <p:cNvSpPr txBox="1">
            <a:spLocks noChangeArrowheads="1"/>
          </p:cNvSpPr>
          <p:nvPr/>
        </p:nvSpPr>
        <p:spPr bwMode="auto">
          <a:xfrm>
            <a:off x="3886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13345" name="Text Box 32"/>
          <p:cNvSpPr txBox="1">
            <a:spLocks noChangeArrowheads="1"/>
          </p:cNvSpPr>
          <p:nvPr/>
        </p:nvSpPr>
        <p:spPr bwMode="auto">
          <a:xfrm>
            <a:off x="28194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3346" name="Text Box 33"/>
          <p:cNvSpPr txBox="1">
            <a:spLocks noChangeArrowheads="1"/>
          </p:cNvSpPr>
          <p:nvPr/>
        </p:nvSpPr>
        <p:spPr bwMode="auto">
          <a:xfrm>
            <a:off x="4572000" y="4724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3347" name="Text Box 34"/>
          <p:cNvSpPr txBox="1">
            <a:spLocks noChangeArrowheads="1"/>
          </p:cNvSpPr>
          <p:nvPr/>
        </p:nvSpPr>
        <p:spPr bwMode="auto">
          <a:xfrm>
            <a:off x="3429000" y="2027238"/>
            <a:ext cx="320675" cy="36671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3348" name="Text Box 35"/>
          <p:cNvSpPr txBox="1">
            <a:spLocks noChangeArrowheads="1"/>
          </p:cNvSpPr>
          <p:nvPr/>
        </p:nvSpPr>
        <p:spPr bwMode="auto">
          <a:xfrm>
            <a:off x="5486400" y="2047875"/>
            <a:ext cx="385763" cy="3698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349" name="Text Box 38"/>
          <p:cNvSpPr txBox="1">
            <a:spLocks noChangeArrowheads="1"/>
          </p:cNvSpPr>
          <p:nvPr/>
        </p:nvSpPr>
        <p:spPr bwMode="auto">
          <a:xfrm>
            <a:off x="1981200" y="3657600"/>
            <a:ext cx="385763" cy="3698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350" name="Text Box 39"/>
          <p:cNvSpPr txBox="1">
            <a:spLocks noChangeArrowheads="1"/>
          </p:cNvSpPr>
          <p:nvPr/>
        </p:nvSpPr>
        <p:spPr bwMode="auto">
          <a:xfrm>
            <a:off x="6858000" y="3581400"/>
            <a:ext cx="385763" cy="3698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351" name="Text Box 40"/>
          <p:cNvSpPr txBox="1">
            <a:spLocks noChangeArrowheads="1"/>
          </p:cNvSpPr>
          <p:nvPr/>
        </p:nvSpPr>
        <p:spPr bwMode="auto">
          <a:xfrm>
            <a:off x="4495800" y="4114800"/>
            <a:ext cx="385763" cy="3698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352" name="Text Box 43"/>
          <p:cNvSpPr txBox="1">
            <a:spLocks noChangeArrowheads="1"/>
          </p:cNvSpPr>
          <p:nvPr/>
        </p:nvSpPr>
        <p:spPr bwMode="auto">
          <a:xfrm>
            <a:off x="2549525" y="5848350"/>
            <a:ext cx="4445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Pick vertex in List with minimum distance.</a:t>
            </a:r>
          </a:p>
        </p:txBody>
      </p:sp>
      <p:sp>
        <p:nvSpPr>
          <p:cNvPr id="13353" name="Text Box 44"/>
          <p:cNvSpPr txBox="1">
            <a:spLocks noChangeArrowheads="1"/>
          </p:cNvSpPr>
          <p:nvPr/>
        </p:nvSpPr>
        <p:spPr bwMode="auto">
          <a:xfrm>
            <a:off x="3429000" y="5257800"/>
            <a:ext cx="385763" cy="3698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354" name="Text Box 45"/>
          <p:cNvSpPr txBox="1">
            <a:spLocks noChangeArrowheads="1"/>
          </p:cNvSpPr>
          <p:nvPr/>
        </p:nvSpPr>
        <p:spPr bwMode="auto">
          <a:xfrm>
            <a:off x="5486400" y="5257800"/>
            <a:ext cx="385763" cy="3698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355" name="Text Box 46"/>
          <p:cNvSpPr txBox="1">
            <a:spLocks noChangeArrowheads="1"/>
          </p:cNvSpPr>
          <p:nvPr/>
        </p:nvSpPr>
        <p:spPr bwMode="auto">
          <a:xfrm>
            <a:off x="457200" y="2112963"/>
            <a:ext cx="22955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Distance(source) = 0</a:t>
            </a:r>
          </a:p>
        </p:txBody>
      </p:sp>
      <p:sp>
        <p:nvSpPr>
          <p:cNvPr id="13356" name="Line 47"/>
          <p:cNvSpPr>
            <a:spLocks noChangeShapeType="1"/>
          </p:cNvSpPr>
          <p:nvPr/>
        </p:nvSpPr>
        <p:spPr bwMode="auto">
          <a:xfrm>
            <a:off x="3048000" y="2362200"/>
            <a:ext cx="30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57" name="Text Box 48"/>
          <p:cNvSpPr txBox="1">
            <a:spLocks noChangeArrowheads="1"/>
          </p:cNvSpPr>
          <p:nvPr/>
        </p:nvSpPr>
        <p:spPr bwMode="auto">
          <a:xfrm>
            <a:off x="6324600" y="2133600"/>
            <a:ext cx="2514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Distance (all vertices but source) = </a:t>
            </a:r>
            <a:r>
              <a:rPr lang="en-US" altLang="en-US" sz="180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514D49D-73B4-490E-95A7-D5E9194064C2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  <a:ea typeface="ＭＳ Ｐゴシック" panose="020B0600070205080204" pitchFamily="34" charset="-128"/>
              </a:rPr>
              <a:t>Example: Update neighbors' distance</a:t>
            </a:r>
          </a:p>
        </p:txBody>
      </p:sp>
      <p:sp>
        <p:nvSpPr>
          <p:cNvPr id="14340" name="Oval 3"/>
          <p:cNvSpPr>
            <a:spLocks noChangeArrowheads="1"/>
          </p:cNvSpPr>
          <p:nvPr/>
        </p:nvSpPr>
        <p:spPr bwMode="auto">
          <a:xfrm>
            <a:off x="3352800" y="2438400"/>
            <a:ext cx="457200" cy="457200"/>
          </a:xfrm>
          <a:prstGeom prst="ellipse">
            <a:avLst/>
          </a:prstGeom>
          <a:solidFill>
            <a:schemeClr val="folHlink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A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4341" name="Oval 4"/>
          <p:cNvSpPr>
            <a:spLocks noChangeArrowheads="1"/>
          </p:cNvSpPr>
          <p:nvPr/>
        </p:nvSpPr>
        <p:spPr bwMode="auto">
          <a:xfrm>
            <a:off x="54102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G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4342" name="Oval 5"/>
          <p:cNvSpPr>
            <a:spLocks noChangeArrowheads="1"/>
          </p:cNvSpPr>
          <p:nvPr/>
        </p:nvSpPr>
        <p:spPr bwMode="auto">
          <a:xfrm>
            <a:off x="33528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F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4343" name="AutoShape 6"/>
          <p:cNvCxnSpPr>
            <a:cxnSpLocks noChangeShapeType="1"/>
            <a:stCxn id="14341" idx="2"/>
            <a:endCxn id="14342" idx="6"/>
          </p:cNvCxnSpPr>
          <p:nvPr/>
        </p:nvCxnSpPr>
        <p:spPr bwMode="auto">
          <a:xfrm flipH="1">
            <a:off x="3810000" y="4953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44" name="AutoShape 7"/>
          <p:cNvCxnSpPr>
            <a:cxnSpLocks noChangeShapeType="1"/>
            <a:stCxn id="14356" idx="2"/>
            <a:endCxn id="14353" idx="6"/>
          </p:cNvCxnSpPr>
          <p:nvPr/>
        </p:nvCxnSpPr>
        <p:spPr bwMode="auto">
          <a:xfrm flipH="1">
            <a:off x="2819400" y="3810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45" name="AutoShape 8"/>
          <p:cNvCxnSpPr>
            <a:cxnSpLocks noChangeShapeType="1"/>
          </p:cNvCxnSpPr>
          <p:nvPr/>
        </p:nvCxnSpPr>
        <p:spPr bwMode="auto">
          <a:xfrm>
            <a:off x="3810000" y="2667000"/>
            <a:ext cx="1600200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46" name="Oval 9"/>
          <p:cNvSpPr>
            <a:spLocks noChangeArrowheads="1"/>
          </p:cNvSpPr>
          <p:nvPr/>
        </p:nvSpPr>
        <p:spPr bwMode="auto">
          <a:xfrm>
            <a:off x="5410200" y="2438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B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4347" name="Oval 10"/>
          <p:cNvSpPr>
            <a:spLocks noChangeArrowheads="1"/>
          </p:cNvSpPr>
          <p:nvPr/>
        </p:nvSpPr>
        <p:spPr bwMode="auto">
          <a:xfrm>
            <a:off x="63246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E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4348" name="AutoShape 11"/>
          <p:cNvCxnSpPr>
            <a:cxnSpLocks noChangeShapeType="1"/>
            <a:stCxn id="14347" idx="2"/>
            <a:endCxn id="14356" idx="6"/>
          </p:cNvCxnSpPr>
          <p:nvPr/>
        </p:nvCxnSpPr>
        <p:spPr bwMode="auto">
          <a:xfrm flipH="1">
            <a:off x="4876800" y="3810000"/>
            <a:ext cx="14478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49" name="AutoShape 12"/>
          <p:cNvCxnSpPr>
            <a:cxnSpLocks noChangeShapeType="1"/>
            <a:stCxn id="14347" idx="1"/>
            <a:endCxn id="14346" idx="5"/>
          </p:cNvCxnSpPr>
          <p:nvPr/>
        </p:nvCxnSpPr>
        <p:spPr bwMode="auto">
          <a:xfrm flipH="1" flipV="1">
            <a:off x="5800725" y="2828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0" name="AutoShape 13"/>
          <p:cNvCxnSpPr>
            <a:cxnSpLocks noChangeShapeType="1"/>
            <a:stCxn id="14341" idx="7"/>
            <a:endCxn id="14347" idx="3"/>
          </p:cNvCxnSpPr>
          <p:nvPr/>
        </p:nvCxnSpPr>
        <p:spPr bwMode="auto">
          <a:xfrm flipV="1">
            <a:off x="5800725" y="3971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1" name="AutoShape 14"/>
          <p:cNvCxnSpPr>
            <a:cxnSpLocks noChangeShapeType="1"/>
            <a:stCxn id="14340" idx="5"/>
            <a:endCxn id="14356" idx="1"/>
          </p:cNvCxnSpPr>
          <p:nvPr/>
        </p:nvCxnSpPr>
        <p:spPr bwMode="auto">
          <a:xfrm>
            <a:off x="3743325" y="2843213"/>
            <a:ext cx="742950" cy="804862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2" name="AutoShape 15"/>
          <p:cNvCxnSpPr>
            <a:cxnSpLocks noChangeShapeType="1"/>
            <a:stCxn id="14346" idx="3"/>
            <a:endCxn id="14356" idx="7"/>
          </p:cNvCxnSpPr>
          <p:nvPr/>
        </p:nvCxnSpPr>
        <p:spPr bwMode="auto">
          <a:xfrm flipH="1">
            <a:off x="48101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53" name="Oval 16"/>
          <p:cNvSpPr>
            <a:spLocks noChangeArrowheads="1"/>
          </p:cNvSpPr>
          <p:nvPr/>
        </p:nvSpPr>
        <p:spPr bwMode="auto">
          <a:xfrm>
            <a:off x="23622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C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4354" name="AutoShape 17"/>
          <p:cNvCxnSpPr>
            <a:cxnSpLocks noChangeShapeType="1"/>
            <a:stCxn id="14353" idx="7"/>
            <a:endCxn id="14340" idx="3"/>
          </p:cNvCxnSpPr>
          <p:nvPr/>
        </p:nvCxnSpPr>
        <p:spPr bwMode="auto">
          <a:xfrm flipV="1">
            <a:off x="2752725" y="2843213"/>
            <a:ext cx="666750" cy="80486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5" name="AutoShape 18"/>
          <p:cNvCxnSpPr>
            <a:cxnSpLocks noChangeShapeType="1"/>
            <a:stCxn id="14342" idx="1"/>
            <a:endCxn id="14353" idx="5"/>
          </p:cNvCxnSpPr>
          <p:nvPr/>
        </p:nvCxnSpPr>
        <p:spPr bwMode="auto">
          <a:xfrm flipH="1" flipV="1">
            <a:off x="27527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56" name="Oval 19"/>
          <p:cNvSpPr>
            <a:spLocks noChangeArrowheads="1"/>
          </p:cNvSpPr>
          <p:nvPr/>
        </p:nvSpPr>
        <p:spPr bwMode="auto">
          <a:xfrm>
            <a:off x="44196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4357" name="AutoShape 20"/>
          <p:cNvCxnSpPr>
            <a:cxnSpLocks noChangeShapeType="1"/>
            <a:stCxn id="14341" idx="1"/>
            <a:endCxn id="14356" idx="5"/>
          </p:cNvCxnSpPr>
          <p:nvPr/>
        </p:nvCxnSpPr>
        <p:spPr bwMode="auto">
          <a:xfrm flipH="1" flipV="1">
            <a:off x="48101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8" name="AutoShape 21"/>
          <p:cNvCxnSpPr>
            <a:cxnSpLocks noChangeShapeType="1"/>
            <a:stCxn id="14342" idx="7"/>
            <a:endCxn id="14356" idx="3"/>
          </p:cNvCxnSpPr>
          <p:nvPr/>
        </p:nvCxnSpPr>
        <p:spPr bwMode="auto">
          <a:xfrm flipV="1">
            <a:off x="3743325" y="3971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59" name="Text Box 22"/>
          <p:cNvSpPr txBox="1">
            <a:spLocks noChangeArrowheads="1"/>
          </p:cNvSpPr>
          <p:nvPr/>
        </p:nvSpPr>
        <p:spPr bwMode="auto">
          <a:xfrm>
            <a:off x="2757488" y="3078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4360" name="Text Box 23"/>
          <p:cNvSpPr txBox="1">
            <a:spLocks noChangeArrowheads="1"/>
          </p:cNvSpPr>
          <p:nvPr/>
        </p:nvSpPr>
        <p:spPr bwMode="auto">
          <a:xfrm>
            <a:off x="4067175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4361" name="Text Box 24"/>
          <p:cNvSpPr txBox="1">
            <a:spLocks noChangeArrowheads="1"/>
          </p:cNvSpPr>
          <p:nvPr/>
        </p:nvSpPr>
        <p:spPr bwMode="auto">
          <a:xfrm>
            <a:off x="4495800" y="2438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4362" name="Text Box 25"/>
          <p:cNvSpPr txBox="1">
            <a:spLocks noChangeArrowheads="1"/>
          </p:cNvSpPr>
          <p:nvPr/>
        </p:nvSpPr>
        <p:spPr bwMode="auto">
          <a:xfrm>
            <a:off x="5973763" y="3063875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14363" name="Text Box 26"/>
          <p:cNvSpPr txBox="1">
            <a:spLocks noChangeArrowheads="1"/>
          </p:cNvSpPr>
          <p:nvPr/>
        </p:nvSpPr>
        <p:spPr bwMode="auto">
          <a:xfrm>
            <a:off x="4922838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4364" name="Text Box 27"/>
          <p:cNvSpPr txBox="1">
            <a:spLocks noChangeArrowheads="1"/>
          </p:cNvSpPr>
          <p:nvPr/>
        </p:nvSpPr>
        <p:spPr bwMode="auto">
          <a:xfrm>
            <a:off x="6172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4365" name="Text Box 28"/>
          <p:cNvSpPr txBox="1">
            <a:spLocks noChangeArrowheads="1"/>
          </p:cNvSpPr>
          <p:nvPr/>
        </p:nvSpPr>
        <p:spPr bwMode="auto">
          <a:xfrm>
            <a:off x="51816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4366" name="Text Box 29"/>
          <p:cNvSpPr txBox="1">
            <a:spLocks noChangeArrowheads="1"/>
          </p:cNvSpPr>
          <p:nvPr/>
        </p:nvSpPr>
        <p:spPr bwMode="auto">
          <a:xfrm>
            <a:off x="54864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4367" name="Text Box 30"/>
          <p:cNvSpPr txBox="1">
            <a:spLocks noChangeArrowheads="1"/>
          </p:cNvSpPr>
          <p:nvPr/>
        </p:nvSpPr>
        <p:spPr bwMode="auto">
          <a:xfrm>
            <a:off x="34290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4368" name="Text Box 31"/>
          <p:cNvSpPr txBox="1">
            <a:spLocks noChangeArrowheads="1"/>
          </p:cNvSpPr>
          <p:nvPr/>
        </p:nvSpPr>
        <p:spPr bwMode="auto">
          <a:xfrm>
            <a:off x="3886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14369" name="Text Box 32"/>
          <p:cNvSpPr txBox="1">
            <a:spLocks noChangeArrowheads="1"/>
          </p:cNvSpPr>
          <p:nvPr/>
        </p:nvSpPr>
        <p:spPr bwMode="auto">
          <a:xfrm>
            <a:off x="28194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4370" name="Text Box 33"/>
          <p:cNvSpPr txBox="1">
            <a:spLocks noChangeArrowheads="1"/>
          </p:cNvSpPr>
          <p:nvPr/>
        </p:nvSpPr>
        <p:spPr bwMode="auto">
          <a:xfrm>
            <a:off x="4572000" y="4724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4371" name="Text Box 34"/>
          <p:cNvSpPr txBox="1">
            <a:spLocks noChangeArrowheads="1"/>
          </p:cNvSpPr>
          <p:nvPr/>
        </p:nvSpPr>
        <p:spPr bwMode="auto">
          <a:xfrm>
            <a:off x="3429000" y="2027238"/>
            <a:ext cx="320675" cy="36671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4372" name="Text Box 35"/>
          <p:cNvSpPr txBox="1">
            <a:spLocks noChangeArrowheads="1"/>
          </p:cNvSpPr>
          <p:nvPr/>
        </p:nvSpPr>
        <p:spPr bwMode="auto">
          <a:xfrm>
            <a:off x="5486400" y="2057400"/>
            <a:ext cx="336550" cy="382588"/>
          </a:xfrm>
          <a:prstGeom prst="rect">
            <a:avLst/>
          </a:prstGeom>
          <a:solidFill>
            <a:srgbClr val="FFFFCC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4373" name="Text Box 36"/>
          <p:cNvSpPr txBox="1">
            <a:spLocks noChangeArrowheads="1"/>
          </p:cNvSpPr>
          <p:nvPr/>
        </p:nvSpPr>
        <p:spPr bwMode="auto">
          <a:xfrm>
            <a:off x="1981200" y="3657600"/>
            <a:ext cx="385763" cy="3698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4374" name="Text Box 37"/>
          <p:cNvSpPr txBox="1">
            <a:spLocks noChangeArrowheads="1"/>
          </p:cNvSpPr>
          <p:nvPr/>
        </p:nvSpPr>
        <p:spPr bwMode="auto">
          <a:xfrm>
            <a:off x="6858000" y="3581400"/>
            <a:ext cx="385763" cy="3698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4375" name="Text Box 38"/>
          <p:cNvSpPr txBox="1">
            <a:spLocks noChangeArrowheads="1"/>
          </p:cNvSpPr>
          <p:nvPr/>
        </p:nvSpPr>
        <p:spPr bwMode="auto">
          <a:xfrm>
            <a:off x="4495800" y="4124325"/>
            <a:ext cx="336550" cy="382588"/>
          </a:xfrm>
          <a:prstGeom prst="rect">
            <a:avLst/>
          </a:prstGeom>
          <a:solidFill>
            <a:srgbClr val="FFFFCC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4376" name="Text Box 45"/>
          <p:cNvSpPr txBox="1">
            <a:spLocks noChangeArrowheads="1"/>
          </p:cNvSpPr>
          <p:nvPr/>
        </p:nvSpPr>
        <p:spPr bwMode="auto">
          <a:xfrm>
            <a:off x="3429000" y="5257800"/>
            <a:ext cx="385763" cy="3698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4377" name="Text Box 46"/>
          <p:cNvSpPr txBox="1">
            <a:spLocks noChangeArrowheads="1"/>
          </p:cNvSpPr>
          <p:nvPr/>
        </p:nvSpPr>
        <p:spPr bwMode="auto">
          <a:xfrm>
            <a:off x="5486400" y="5257800"/>
            <a:ext cx="385763" cy="3698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4378" name="Text Box 47"/>
          <p:cNvSpPr txBox="1">
            <a:spLocks noChangeArrowheads="1"/>
          </p:cNvSpPr>
          <p:nvPr/>
        </p:nvSpPr>
        <p:spPr bwMode="auto">
          <a:xfrm>
            <a:off x="381000" y="4724400"/>
            <a:ext cx="1947863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Distance(B) = 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4379" name="Text Box 48"/>
          <p:cNvSpPr txBox="1">
            <a:spLocks noChangeArrowheads="1"/>
          </p:cNvSpPr>
          <p:nvPr/>
        </p:nvSpPr>
        <p:spPr bwMode="auto">
          <a:xfrm>
            <a:off x="381000" y="5029200"/>
            <a:ext cx="1947863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Distance(D) = 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4380" name="Line 43"/>
          <p:cNvSpPr>
            <a:spLocks noChangeShapeType="1"/>
          </p:cNvSpPr>
          <p:nvPr/>
        </p:nvSpPr>
        <p:spPr bwMode="auto">
          <a:xfrm flipH="1" flipV="1">
            <a:off x="3657600" y="2971800"/>
            <a:ext cx="68580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81" name="Line 44"/>
          <p:cNvSpPr>
            <a:spLocks noChangeShapeType="1"/>
          </p:cNvSpPr>
          <p:nvPr/>
        </p:nvSpPr>
        <p:spPr bwMode="auto">
          <a:xfrm flipH="1" flipV="1">
            <a:off x="3962400" y="27432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D792BE0-8710-43F6-94E4-55858F38541E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  <a:ea typeface="ＭＳ Ｐゴシック" panose="020B0600070205080204" pitchFamily="34" charset="-128"/>
              </a:rPr>
              <a:t>Example: Remove vertex with minimum distance</a:t>
            </a:r>
          </a:p>
        </p:txBody>
      </p:sp>
      <p:sp>
        <p:nvSpPr>
          <p:cNvPr id="15364" name="Text Box 41"/>
          <p:cNvSpPr txBox="1">
            <a:spLocks noChangeArrowheads="1"/>
          </p:cNvSpPr>
          <p:nvPr/>
        </p:nvSpPr>
        <p:spPr bwMode="auto">
          <a:xfrm>
            <a:off x="2182813" y="5848350"/>
            <a:ext cx="5111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Pick vertex in List with minimum distance, i.e., D</a:t>
            </a:r>
          </a:p>
        </p:txBody>
      </p:sp>
      <p:grpSp>
        <p:nvGrpSpPr>
          <p:cNvPr id="15365" name="Group 45"/>
          <p:cNvGrpSpPr>
            <a:grpSpLocks/>
          </p:cNvGrpSpPr>
          <p:nvPr/>
        </p:nvGrpSpPr>
        <p:grpSpPr bwMode="auto">
          <a:xfrm>
            <a:off x="1981200" y="2027238"/>
            <a:ext cx="5262563" cy="3600450"/>
            <a:chOff x="1248" y="1277"/>
            <a:chExt cx="3315" cy="2268"/>
          </a:xfrm>
        </p:grpSpPr>
        <p:sp>
          <p:nvSpPr>
            <p:cNvPr id="15368" name="Oval 3"/>
            <p:cNvSpPr>
              <a:spLocks noChangeArrowheads="1"/>
            </p:cNvSpPr>
            <p:nvPr/>
          </p:nvSpPr>
          <p:spPr bwMode="auto">
            <a:xfrm>
              <a:off x="2112" y="1536"/>
              <a:ext cx="288" cy="288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A</a:t>
              </a:r>
              <a:endParaRPr lang="en-US" altLang="en-US" sz="18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5369" name="Oval 4"/>
            <p:cNvSpPr>
              <a:spLocks noChangeArrowheads="1"/>
            </p:cNvSpPr>
            <p:nvPr/>
          </p:nvSpPr>
          <p:spPr bwMode="auto">
            <a:xfrm>
              <a:off x="3408" y="2976"/>
              <a:ext cx="288" cy="288"/>
            </a:xfrm>
            <a:prstGeom prst="ellips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G</a:t>
              </a:r>
              <a:endParaRPr lang="en-US" altLang="en-US" sz="18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5370" name="Oval 5"/>
            <p:cNvSpPr>
              <a:spLocks noChangeArrowheads="1"/>
            </p:cNvSpPr>
            <p:nvPr/>
          </p:nvSpPr>
          <p:spPr bwMode="auto">
            <a:xfrm>
              <a:off x="2112" y="2976"/>
              <a:ext cx="288" cy="288"/>
            </a:xfrm>
            <a:prstGeom prst="ellips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F</a:t>
              </a:r>
              <a:endParaRPr lang="en-US" altLang="en-US" sz="1800" baseline="-25000">
                <a:latin typeface="Times New Roman" panose="02020603050405020304" pitchFamily="18" charset="0"/>
              </a:endParaRPr>
            </a:p>
          </p:txBody>
        </p:sp>
        <p:cxnSp>
          <p:nvCxnSpPr>
            <p:cNvPr id="15371" name="AutoShape 6"/>
            <p:cNvCxnSpPr>
              <a:cxnSpLocks noChangeShapeType="1"/>
              <a:stCxn id="15369" idx="2"/>
              <a:endCxn id="15370" idx="6"/>
            </p:cNvCxnSpPr>
            <p:nvPr/>
          </p:nvCxnSpPr>
          <p:spPr bwMode="auto">
            <a:xfrm flipH="1">
              <a:off x="2400" y="3120"/>
              <a:ext cx="1008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72" name="AutoShape 7"/>
            <p:cNvCxnSpPr>
              <a:cxnSpLocks noChangeShapeType="1"/>
              <a:stCxn id="15384" idx="2"/>
              <a:endCxn id="15381" idx="6"/>
            </p:cNvCxnSpPr>
            <p:nvPr/>
          </p:nvCxnSpPr>
          <p:spPr bwMode="auto">
            <a:xfrm flipH="1">
              <a:off x="1776" y="2400"/>
              <a:ext cx="1008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73" name="AutoShape 8"/>
            <p:cNvCxnSpPr>
              <a:cxnSpLocks noChangeShapeType="1"/>
              <a:stCxn id="15368" idx="6"/>
              <a:endCxn id="15374" idx="2"/>
            </p:cNvCxnSpPr>
            <p:nvPr/>
          </p:nvCxnSpPr>
          <p:spPr bwMode="auto">
            <a:xfrm>
              <a:off x="2400" y="1680"/>
              <a:ext cx="1008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374" name="Oval 9"/>
            <p:cNvSpPr>
              <a:spLocks noChangeArrowheads="1"/>
            </p:cNvSpPr>
            <p:nvPr/>
          </p:nvSpPr>
          <p:spPr bwMode="auto">
            <a:xfrm>
              <a:off x="3408" y="1536"/>
              <a:ext cx="288" cy="288"/>
            </a:xfrm>
            <a:prstGeom prst="ellips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endParaRPr lang="en-US" altLang="en-US" sz="18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5375" name="Oval 10"/>
            <p:cNvSpPr>
              <a:spLocks noChangeArrowheads="1"/>
            </p:cNvSpPr>
            <p:nvPr/>
          </p:nvSpPr>
          <p:spPr bwMode="auto">
            <a:xfrm>
              <a:off x="3984" y="2256"/>
              <a:ext cx="288" cy="288"/>
            </a:xfrm>
            <a:prstGeom prst="ellips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E</a:t>
              </a:r>
              <a:endParaRPr lang="en-US" altLang="en-US" sz="1800" baseline="-25000">
                <a:latin typeface="Times New Roman" panose="02020603050405020304" pitchFamily="18" charset="0"/>
              </a:endParaRPr>
            </a:p>
          </p:txBody>
        </p:sp>
        <p:cxnSp>
          <p:nvCxnSpPr>
            <p:cNvPr id="15376" name="AutoShape 11"/>
            <p:cNvCxnSpPr>
              <a:cxnSpLocks noChangeShapeType="1"/>
              <a:stCxn id="15375" idx="2"/>
              <a:endCxn id="15384" idx="6"/>
            </p:cNvCxnSpPr>
            <p:nvPr/>
          </p:nvCxnSpPr>
          <p:spPr bwMode="auto">
            <a:xfrm flipH="1">
              <a:off x="3072" y="2400"/>
              <a:ext cx="912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77" name="AutoShape 12"/>
            <p:cNvCxnSpPr>
              <a:cxnSpLocks noChangeShapeType="1"/>
              <a:stCxn id="15375" idx="1"/>
              <a:endCxn id="15374" idx="5"/>
            </p:cNvCxnSpPr>
            <p:nvPr/>
          </p:nvCxnSpPr>
          <p:spPr bwMode="auto">
            <a:xfrm flipH="1" flipV="1">
              <a:off x="3654" y="1782"/>
              <a:ext cx="372" cy="51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78" name="AutoShape 13"/>
            <p:cNvCxnSpPr>
              <a:cxnSpLocks noChangeShapeType="1"/>
              <a:stCxn id="15369" idx="7"/>
              <a:endCxn id="15375" idx="3"/>
            </p:cNvCxnSpPr>
            <p:nvPr/>
          </p:nvCxnSpPr>
          <p:spPr bwMode="auto">
            <a:xfrm flipV="1">
              <a:off x="3654" y="2502"/>
              <a:ext cx="372" cy="51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79" name="AutoShape 14"/>
            <p:cNvCxnSpPr>
              <a:cxnSpLocks noChangeShapeType="1"/>
              <a:stCxn id="15368" idx="5"/>
              <a:endCxn id="15384" idx="1"/>
            </p:cNvCxnSpPr>
            <p:nvPr/>
          </p:nvCxnSpPr>
          <p:spPr bwMode="auto">
            <a:xfrm>
              <a:off x="2358" y="1782"/>
              <a:ext cx="468" cy="51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80" name="AutoShape 15"/>
            <p:cNvCxnSpPr>
              <a:cxnSpLocks noChangeShapeType="1"/>
              <a:stCxn id="15374" idx="3"/>
              <a:endCxn id="15384" idx="7"/>
            </p:cNvCxnSpPr>
            <p:nvPr/>
          </p:nvCxnSpPr>
          <p:spPr bwMode="auto">
            <a:xfrm flipH="1">
              <a:off x="3030" y="1782"/>
              <a:ext cx="420" cy="51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381" name="Oval 16"/>
            <p:cNvSpPr>
              <a:spLocks noChangeArrowheads="1"/>
            </p:cNvSpPr>
            <p:nvPr/>
          </p:nvSpPr>
          <p:spPr bwMode="auto">
            <a:xfrm>
              <a:off x="1488" y="2256"/>
              <a:ext cx="288" cy="288"/>
            </a:xfrm>
            <a:prstGeom prst="ellips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C</a:t>
              </a:r>
              <a:endParaRPr lang="en-US" altLang="en-US" sz="1800" baseline="-25000">
                <a:latin typeface="Times New Roman" panose="02020603050405020304" pitchFamily="18" charset="0"/>
              </a:endParaRPr>
            </a:p>
          </p:txBody>
        </p:sp>
        <p:cxnSp>
          <p:nvCxnSpPr>
            <p:cNvPr id="15382" name="AutoShape 17"/>
            <p:cNvCxnSpPr>
              <a:cxnSpLocks noChangeShapeType="1"/>
              <a:stCxn id="15381" idx="7"/>
              <a:endCxn id="15368" idx="3"/>
            </p:cNvCxnSpPr>
            <p:nvPr/>
          </p:nvCxnSpPr>
          <p:spPr bwMode="auto">
            <a:xfrm flipV="1">
              <a:off x="1734" y="1782"/>
              <a:ext cx="420" cy="51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83" name="AutoShape 18"/>
            <p:cNvCxnSpPr>
              <a:cxnSpLocks noChangeShapeType="1"/>
              <a:stCxn id="15370" idx="1"/>
              <a:endCxn id="15381" idx="5"/>
            </p:cNvCxnSpPr>
            <p:nvPr/>
          </p:nvCxnSpPr>
          <p:spPr bwMode="auto">
            <a:xfrm flipH="1" flipV="1">
              <a:off x="1734" y="2502"/>
              <a:ext cx="420" cy="51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384" name="Oval 19"/>
            <p:cNvSpPr>
              <a:spLocks noChangeArrowheads="1"/>
            </p:cNvSpPr>
            <p:nvPr/>
          </p:nvSpPr>
          <p:spPr bwMode="auto">
            <a:xfrm>
              <a:off x="2784" y="2256"/>
              <a:ext cx="288" cy="288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D</a:t>
              </a:r>
              <a:endParaRPr lang="en-US" altLang="en-US" sz="1800" baseline="-25000">
                <a:latin typeface="Times New Roman" panose="02020603050405020304" pitchFamily="18" charset="0"/>
              </a:endParaRPr>
            </a:p>
          </p:txBody>
        </p:sp>
        <p:cxnSp>
          <p:nvCxnSpPr>
            <p:cNvPr id="15385" name="AutoShape 20"/>
            <p:cNvCxnSpPr>
              <a:cxnSpLocks noChangeShapeType="1"/>
              <a:stCxn id="15369" idx="1"/>
              <a:endCxn id="15384" idx="5"/>
            </p:cNvCxnSpPr>
            <p:nvPr/>
          </p:nvCxnSpPr>
          <p:spPr bwMode="auto">
            <a:xfrm flipH="1" flipV="1">
              <a:off x="3030" y="2502"/>
              <a:ext cx="420" cy="51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86" name="AutoShape 21"/>
            <p:cNvCxnSpPr>
              <a:cxnSpLocks noChangeShapeType="1"/>
              <a:stCxn id="15370" idx="7"/>
              <a:endCxn id="15384" idx="3"/>
            </p:cNvCxnSpPr>
            <p:nvPr/>
          </p:nvCxnSpPr>
          <p:spPr bwMode="auto">
            <a:xfrm flipV="1">
              <a:off x="2358" y="2502"/>
              <a:ext cx="468" cy="51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387" name="Text Box 22"/>
            <p:cNvSpPr txBox="1">
              <a:spLocks noChangeArrowheads="1"/>
            </p:cNvSpPr>
            <p:nvPr/>
          </p:nvSpPr>
          <p:spPr bwMode="auto">
            <a:xfrm>
              <a:off x="1737" y="1939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15388" name="Text Box 23"/>
            <p:cNvSpPr txBox="1">
              <a:spLocks noChangeArrowheads="1"/>
            </p:cNvSpPr>
            <p:nvPr/>
          </p:nvSpPr>
          <p:spPr bwMode="auto">
            <a:xfrm>
              <a:off x="2562" y="1930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5389" name="Text Box 24"/>
            <p:cNvSpPr txBox="1">
              <a:spLocks noChangeArrowheads="1"/>
            </p:cNvSpPr>
            <p:nvPr/>
          </p:nvSpPr>
          <p:spPr bwMode="auto">
            <a:xfrm>
              <a:off x="2832" y="1536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5390" name="Text Box 25"/>
            <p:cNvSpPr txBox="1">
              <a:spLocks noChangeArrowheads="1"/>
            </p:cNvSpPr>
            <p:nvPr/>
          </p:nvSpPr>
          <p:spPr bwMode="auto">
            <a:xfrm>
              <a:off x="3763" y="1930"/>
              <a:ext cx="23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10</a:t>
              </a:r>
            </a:p>
          </p:txBody>
        </p:sp>
        <p:sp>
          <p:nvSpPr>
            <p:cNvPr id="15391" name="Text Box 26"/>
            <p:cNvSpPr txBox="1">
              <a:spLocks noChangeArrowheads="1"/>
            </p:cNvSpPr>
            <p:nvPr/>
          </p:nvSpPr>
          <p:spPr bwMode="auto">
            <a:xfrm>
              <a:off x="3101" y="1930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5392" name="Text Box 27"/>
            <p:cNvSpPr txBox="1">
              <a:spLocks noChangeArrowheads="1"/>
            </p:cNvSpPr>
            <p:nvPr/>
          </p:nvSpPr>
          <p:spPr bwMode="auto">
            <a:xfrm>
              <a:off x="3888" y="2659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6</a:t>
              </a:r>
            </a:p>
          </p:txBody>
        </p:sp>
        <p:sp>
          <p:nvSpPr>
            <p:cNvPr id="15393" name="Text Box 28"/>
            <p:cNvSpPr txBox="1">
              <a:spLocks noChangeArrowheads="1"/>
            </p:cNvSpPr>
            <p:nvPr/>
          </p:nvSpPr>
          <p:spPr bwMode="auto">
            <a:xfrm>
              <a:off x="3264" y="2659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15394" name="Text Box 29"/>
            <p:cNvSpPr txBox="1">
              <a:spLocks noChangeArrowheads="1"/>
            </p:cNvSpPr>
            <p:nvPr/>
          </p:nvSpPr>
          <p:spPr bwMode="auto">
            <a:xfrm>
              <a:off x="3456" y="2256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5395" name="Text Box 30"/>
            <p:cNvSpPr txBox="1">
              <a:spLocks noChangeArrowheads="1"/>
            </p:cNvSpPr>
            <p:nvPr/>
          </p:nvSpPr>
          <p:spPr bwMode="auto">
            <a:xfrm>
              <a:off x="2160" y="2256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5396" name="Text Box 31"/>
            <p:cNvSpPr txBox="1">
              <a:spLocks noChangeArrowheads="1"/>
            </p:cNvSpPr>
            <p:nvPr/>
          </p:nvSpPr>
          <p:spPr bwMode="auto">
            <a:xfrm>
              <a:off x="2448" y="2659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8</a:t>
              </a:r>
            </a:p>
          </p:txBody>
        </p:sp>
        <p:sp>
          <p:nvSpPr>
            <p:cNvPr id="15397" name="Text Box 32"/>
            <p:cNvSpPr txBox="1">
              <a:spLocks noChangeArrowheads="1"/>
            </p:cNvSpPr>
            <p:nvPr/>
          </p:nvSpPr>
          <p:spPr bwMode="auto">
            <a:xfrm>
              <a:off x="1776" y="2659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15398" name="Text Box 33"/>
            <p:cNvSpPr txBox="1">
              <a:spLocks noChangeArrowheads="1"/>
            </p:cNvSpPr>
            <p:nvPr/>
          </p:nvSpPr>
          <p:spPr bwMode="auto">
            <a:xfrm>
              <a:off x="2880" y="2976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5399" name="Text Box 34"/>
            <p:cNvSpPr txBox="1">
              <a:spLocks noChangeArrowheads="1"/>
            </p:cNvSpPr>
            <p:nvPr/>
          </p:nvSpPr>
          <p:spPr bwMode="auto">
            <a:xfrm>
              <a:off x="2160" y="1277"/>
              <a:ext cx="202" cy="23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15400" name="Text Box 35"/>
            <p:cNvSpPr txBox="1">
              <a:spLocks noChangeArrowheads="1"/>
            </p:cNvSpPr>
            <p:nvPr/>
          </p:nvSpPr>
          <p:spPr bwMode="auto">
            <a:xfrm>
              <a:off x="3456" y="1296"/>
              <a:ext cx="202" cy="23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2</a:t>
              </a: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5401" name="Text Box 36"/>
            <p:cNvSpPr txBox="1">
              <a:spLocks noChangeArrowheads="1"/>
            </p:cNvSpPr>
            <p:nvPr/>
          </p:nvSpPr>
          <p:spPr bwMode="auto">
            <a:xfrm>
              <a:off x="1248" y="2304"/>
              <a:ext cx="243" cy="233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674EA7"/>
                  </a:solidFill>
                  <a:latin typeface="Constantia" panose="02030602050306030303" pitchFamily="18" charset="0"/>
                </a:rPr>
                <a:t>∞ </a:t>
              </a: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5402" name="Text Box 37"/>
            <p:cNvSpPr txBox="1">
              <a:spLocks noChangeArrowheads="1"/>
            </p:cNvSpPr>
            <p:nvPr/>
          </p:nvSpPr>
          <p:spPr bwMode="auto">
            <a:xfrm>
              <a:off x="4320" y="2256"/>
              <a:ext cx="243" cy="233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674EA7"/>
                  </a:solidFill>
                  <a:latin typeface="Constantia" panose="02030602050306030303" pitchFamily="18" charset="0"/>
                </a:rPr>
                <a:t>∞ </a:t>
              </a: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5403" name="Text Box 38"/>
            <p:cNvSpPr txBox="1">
              <a:spLocks noChangeArrowheads="1"/>
            </p:cNvSpPr>
            <p:nvPr/>
          </p:nvSpPr>
          <p:spPr bwMode="auto">
            <a:xfrm>
              <a:off x="2832" y="2598"/>
              <a:ext cx="202" cy="23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1</a:t>
              </a: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5404" name="Text Box 39"/>
            <p:cNvSpPr txBox="1">
              <a:spLocks noChangeArrowheads="1"/>
            </p:cNvSpPr>
            <p:nvPr/>
          </p:nvSpPr>
          <p:spPr bwMode="auto">
            <a:xfrm>
              <a:off x="2160" y="3312"/>
              <a:ext cx="243" cy="233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674EA7"/>
                  </a:solidFill>
                  <a:latin typeface="Constantia" panose="02030602050306030303" pitchFamily="18" charset="0"/>
                </a:rPr>
                <a:t>∞ </a:t>
              </a: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5405" name="Text Box 40"/>
            <p:cNvSpPr txBox="1">
              <a:spLocks noChangeArrowheads="1"/>
            </p:cNvSpPr>
            <p:nvPr/>
          </p:nvSpPr>
          <p:spPr bwMode="auto">
            <a:xfrm>
              <a:off x="3456" y="3312"/>
              <a:ext cx="243" cy="233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674EA7"/>
                  </a:solidFill>
                  <a:latin typeface="Constantia" panose="02030602050306030303" pitchFamily="18" charset="0"/>
                </a:rPr>
                <a:t>∞ </a:t>
              </a: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sp>
        <p:nvSpPr>
          <p:cNvPr id="15366" name="Line 43"/>
          <p:cNvSpPr>
            <a:spLocks noChangeShapeType="1"/>
          </p:cNvSpPr>
          <p:nvPr/>
        </p:nvSpPr>
        <p:spPr bwMode="auto">
          <a:xfrm flipH="1" flipV="1">
            <a:off x="3657600" y="2971800"/>
            <a:ext cx="68580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67" name="Line 44"/>
          <p:cNvSpPr>
            <a:spLocks noChangeShapeType="1"/>
          </p:cNvSpPr>
          <p:nvPr/>
        </p:nvSpPr>
        <p:spPr bwMode="auto">
          <a:xfrm flipH="1" flipV="1">
            <a:off x="3962400" y="27432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2E48A5C-7FD2-4554-AC7A-82106E236538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  <a:ea typeface="ＭＳ Ｐゴシック" panose="020B0600070205080204" pitchFamily="34" charset="-128"/>
              </a:rPr>
              <a:t>Example: Update neighbors</a:t>
            </a:r>
          </a:p>
        </p:txBody>
      </p:sp>
      <p:sp>
        <p:nvSpPr>
          <p:cNvPr id="16388" name="Oval 3"/>
          <p:cNvSpPr>
            <a:spLocks noChangeArrowheads="1"/>
          </p:cNvSpPr>
          <p:nvPr/>
        </p:nvSpPr>
        <p:spPr bwMode="auto">
          <a:xfrm>
            <a:off x="33528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A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6389" name="Oval 4"/>
          <p:cNvSpPr>
            <a:spLocks noChangeArrowheads="1"/>
          </p:cNvSpPr>
          <p:nvPr/>
        </p:nvSpPr>
        <p:spPr bwMode="auto">
          <a:xfrm>
            <a:off x="54102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G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6390" name="Oval 5"/>
          <p:cNvSpPr>
            <a:spLocks noChangeArrowheads="1"/>
          </p:cNvSpPr>
          <p:nvPr/>
        </p:nvSpPr>
        <p:spPr bwMode="auto">
          <a:xfrm>
            <a:off x="33528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F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6391" name="AutoShape 6"/>
          <p:cNvCxnSpPr>
            <a:cxnSpLocks noChangeShapeType="1"/>
            <a:stCxn id="16389" idx="2"/>
            <a:endCxn id="16390" idx="6"/>
          </p:cNvCxnSpPr>
          <p:nvPr/>
        </p:nvCxnSpPr>
        <p:spPr bwMode="auto">
          <a:xfrm flipH="1">
            <a:off x="3810000" y="4953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2" name="AutoShape 7"/>
          <p:cNvCxnSpPr>
            <a:cxnSpLocks noChangeShapeType="1"/>
            <a:stCxn id="16404" idx="2"/>
            <a:endCxn id="16401" idx="6"/>
          </p:cNvCxnSpPr>
          <p:nvPr/>
        </p:nvCxnSpPr>
        <p:spPr bwMode="auto">
          <a:xfrm flipH="1">
            <a:off x="2819400" y="3810000"/>
            <a:ext cx="1585913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3" name="AutoShape 8"/>
          <p:cNvCxnSpPr>
            <a:cxnSpLocks noChangeShapeType="1"/>
            <a:stCxn id="16388" idx="6"/>
            <a:endCxn id="16394" idx="2"/>
          </p:cNvCxnSpPr>
          <p:nvPr/>
        </p:nvCxnSpPr>
        <p:spPr bwMode="auto">
          <a:xfrm>
            <a:off x="3810000" y="2667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394" name="Oval 9"/>
          <p:cNvSpPr>
            <a:spLocks noChangeArrowheads="1"/>
          </p:cNvSpPr>
          <p:nvPr/>
        </p:nvSpPr>
        <p:spPr bwMode="auto">
          <a:xfrm>
            <a:off x="5410200" y="2438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B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6395" name="Oval 10"/>
          <p:cNvSpPr>
            <a:spLocks noChangeArrowheads="1"/>
          </p:cNvSpPr>
          <p:nvPr/>
        </p:nvSpPr>
        <p:spPr bwMode="auto">
          <a:xfrm>
            <a:off x="63246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E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6396" name="AutoShape 11"/>
          <p:cNvCxnSpPr>
            <a:cxnSpLocks noChangeShapeType="1"/>
          </p:cNvCxnSpPr>
          <p:nvPr/>
        </p:nvCxnSpPr>
        <p:spPr bwMode="auto">
          <a:xfrm flipH="1">
            <a:off x="4876800" y="3810000"/>
            <a:ext cx="1447800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7" name="AutoShape 12"/>
          <p:cNvCxnSpPr>
            <a:cxnSpLocks noChangeShapeType="1"/>
            <a:stCxn id="16395" idx="1"/>
            <a:endCxn id="16394" idx="5"/>
          </p:cNvCxnSpPr>
          <p:nvPr/>
        </p:nvCxnSpPr>
        <p:spPr bwMode="auto">
          <a:xfrm flipH="1" flipV="1">
            <a:off x="5800725" y="2828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8" name="AutoShape 13"/>
          <p:cNvCxnSpPr>
            <a:cxnSpLocks noChangeShapeType="1"/>
            <a:stCxn id="16389" idx="7"/>
            <a:endCxn id="16395" idx="3"/>
          </p:cNvCxnSpPr>
          <p:nvPr/>
        </p:nvCxnSpPr>
        <p:spPr bwMode="auto">
          <a:xfrm flipV="1">
            <a:off x="5800725" y="3971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9" name="AutoShape 14"/>
          <p:cNvCxnSpPr>
            <a:cxnSpLocks noChangeShapeType="1"/>
            <a:stCxn id="16388" idx="5"/>
            <a:endCxn id="16404" idx="1"/>
          </p:cNvCxnSpPr>
          <p:nvPr/>
        </p:nvCxnSpPr>
        <p:spPr bwMode="auto">
          <a:xfrm>
            <a:off x="3743325" y="2828925"/>
            <a:ext cx="742950" cy="8048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0" name="AutoShape 15"/>
          <p:cNvCxnSpPr>
            <a:cxnSpLocks noChangeShapeType="1"/>
            <a:stCxn id="16394" idx="3"/>
            <a:endCxn id="16404" idx="7"/>
          </p:cNvCxnSpPr>
          <p:nvPr/>
        </p:nvCxnSpPr>
        <p:spPr bwMode="auto">
          <a:xfrm flipH="1">
            <a:off x="4810125" y="2828925"/>
            <a:ext cx="666750" cy="8048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01" name="Oval 16"/>
          <p:cNvSpPr>
            <a:spLocks noChangeArrowheads="1"/>
          </p:cNvSpPr>
          <p:nvPr/>
        </p:nvSpPr>
        <p:spPr bwMode="auto">
          <a:xfrm>
            <a:off x="23622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C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6402" name="AutoShape 17"/>
          <p:cNvCxnSpPr>
            <a:cxnSpLocks noChangeShapeType="1"/>
            <a:stCxn id="16401" idx="7"/>
            <a:endCxn id="16388" idx="3"/>
          </p:cNvCxnSpPr>
          <p:nvPr/>
        </p:nvCxnSpPr>
        <p:spPr bwMode="auto">
          <a:xfrm flipV="1">
            <a:off x="27527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3" name="AutoShape 18"/>
          <p:cNvCxnSpPr>
            <a:cxnSpLocks noChangeShapeType="1"/>
            <a:stCxn id="16390" idx="1"/>
            <a:endCxn id="16401" idx="5"/>
          </p:cNvCxnSpPr>
          <p:nvPr/>
        </p:nvCxnSpPr>
        <p:spPr bwMode="auto">
          <a:xfrm flipH="1" flipV="1">
            <a:off x="27527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04" name="Oval 19"/>
          <p:cNvSpPr>
            <a:spLocks noChangeArrowheads="1"/>
          </p:cNvSpPr>
          <p:nvPr/>
        </p:nvSpPr>
        <p:spPr bwMode="auto">
          <a:xfrm>
            <a:off x="4419600" y="3581400"/>
            <a:ext cx="457200" cy="457200"/>
          </a:xfrm>
          <a:prstGeom prst="ellipse">
            <a:avLst/>
          </a:prstGeom>
          <a:solidFill>
            <a:schemeClr val="folHlink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6405" name="AutoShape 20"/>
          <p:cNvCxnSpPr>
            <a:cxnSpLocks noChangeShapeType="1"/>
            <a:stCxn id="16389" idx="1"/>
            <a:endCxn id="16404" idx="5"/>
          </p:cNvCxnSpPr>
          <p:nvPr/>
        </p:nvCxnSpPr>
        <p:spPr bwMode="auto">
          <a:xfrm flipH="1" flipV="1">
            <a:off x="4810125" y="3986213"/>
            <a:ext cx="666750" cy="804862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6" name="AutoShape 21"/>
          <p:cNvCxnSpPr>
            <a:cxnSpLocks noChangeShapeType="1"/>
            <a:stCxn id="16390" idx="7"/>
            <a:endCxn id="16404" idx="3"/>
          </p:cNvCxnSpPr>
          <p:nvPr/>
        </p:nvCxnSpPr>
        <p:spPr bwMode="auto">
          <a:xfrm flipV="1">
            <a:off x="3743325" y="3986213"/>
            <a:ext cx="742950" cy="804862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07" name="Text Box 22"/>
          <p:cNvSpPr txBox="1">
            <a:spLocks noChangeArrowheads="1"/>
          </p:cNvSpPr>
          <p:nvPr/>
        </p:nvSpPr>
        <p:spPr bwMode="auto">
          <a:xfrm>
            <a:off x="2757488" y="3078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6408" name="Text Box 23"/>
          <p:cNvSpPr txBox="1">
            <a:spLocks noChangeArrowheads="1"/>
          </p:cNvSpPr>
          <p:nvPr/>
        </p:nvSpPr>
        <p:spPr bwMode="auto">
          <a:xfrm>
            <a:off x="4067175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6409" name="Text Box 24"/>
          <p:cNvSpPr txBox="1">
            <a:spLocks noChangeArrowheads="1"/>
          </p:cNvSpPr>
          <p:nvPr/>
        </p:nvSpPr>
        <p:spPr bwMode="auto">
          <a:xfrm>
            <a:off x="4495800" y="2438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6410" name="Text Box 25"/>
          <p:cNvSpPr txBox="1">
            <a:spLocks noChangeArrowheads="1"/>
          </p:cNvSpPr>
          <p:nvPr/>
        </p:nvSpPr>
        <p:spPr bwMode="auto">
          <a:xfrm>
            <a:off x="5973763" y="3063875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16411" name="Text Box 26"/>
          <p:cNvSpPr txBox="1">
            <a:spLocks noChangeArrowheads="1"/>
          </p:cNvSpPr>
          <p:nvPr/>
        </p:nvSpPr>
        <p:spPr bwMode="auto">
          <a:xfrm>
            <a:off x="4922838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6412" name="Text Box 27"/>
          <p:cNvSpPr txBox="1">
            <a:spLocks noChangeArrowheads="1"/>
          </p:cNvSpPr>
          <p:nvPr/>
        </p:nvSpPr>
        <p:spPr bwMode="auto">
          <a:xfrm>
            <a:off x="6172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6413" name="Text Box 28"/>
          <p:cNvSpPr txBox="1">
            <a:spLocks noChangeArrowheads="1"/>
          </p:cNvSpPr>
          <p:nvPr/>
        </p:nvSpPr>
        <p:spPr bwMode="auto">
          <a:xfrm>
            <a:off x="51816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6414" name="Text Box 29"/>
          <p:cNvSpPr txBox="1">
            <a:spLocks noChangeArrowheads="1"/>
          </p:cNvSpPr>
          <p:nvPr/>
        </p:nvSpPr>
        <p:spPr bwMode="auto">
          <a:xfrm>
            <a:off x="54864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6415" name="Text Box 30"/>
          <p:cNvSpPr txBox="1">
            <a:spLocks noChangeArrowheads="1"/>
          </p:cNvSpPr>
          <p:nvPr/>
        </p:nvSpPr>
        <p:spPr bwMode="auto">
          <a:xfrm>
            <a:off x="34290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6416" name="Text Box 31"/>
          <p:cNvSpPr txBox="1">
            <a:spLocks noChangeArrowheads="1"/>
          </p:cNvSpPr>
          <p:nvPr/>
        </p:nvSpPr>
        <p:spPr bwMode="auto">
          <a:xfrm>
            <a:off x="3886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16417" name="Text Box 32"/>
          <p:cNvSpPr txBox="1">
            <a:spLocks noChangeArrowheads="1"/>
          </p:cNvSpPr>
          <p:nvPr/>
        </p:nvSpPr>
        <p:spPr bwMode="auto">
          <a:xfrm>
            <a:off x="28194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6418" name="Text Box 33"/>
          <p:cNvSpPr txBox="1">
            <a:spLocks noChangeArrowheads="1"/>
          </p:cNvSpPr>
          <p:nvPr/>
        </p:nvSpPr>
        <p:spPr bwMode="auto">
          <a:xfrm>
            <a:off x="4572000" y="4724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6419" name="Text Box 34"/>
          <p:cNvSpPr txBox="1">
            <a:spLocks noChangeArrowheads="1"/>
          </p:cNvSpPr>
          <p:nvPr/>
        </p:nvSpPr>
        <p:spPr bwMode="auto">
          <a:xfrm>
            <a:off x="3429000" y="2027238"/>
            <a:ext cx="320675" cy="36671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6420" name="Text Box 35"/>
          <p:cNvSpPr txBox="1">
            <a:spLocks noChangeArrowheads="1"/>
          </p:cNvSpPr>
          <p:nvPr/>
        </p:nvSpPr>
        <p:spPr bwMode="auto">
          <a:xfrm>
            <a:off x="5486400" y="20574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6421" name="Text Box 36"/>
          <p:cNvSpPr txBox="1">
            <a:spLocks noChangeArrowheads="1"/>
          </p:cNvSpPr>
          <p:nvPr/>
        </p:nvSpPr>
        <p:spPr bwMode="auto">
          <a:xfrm>
            <a:off x="1981200" y="3667125"/>
            <a:ext cx="336550" cy="382588"/>
          </a:xfrm>
          <a:prstGeom prst="rect">
            <a:avLst/>
          </a:prstGeom>
          <a:solidFill>
            <a:srgbClr val="FFFFCC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6422" name="Text Box 37"/>
          <p:cNvSpPr txBox="1">
            <a:spLocks noChangeArrowheads="1"/>
          </p:cNvSpPr>
          <p:nvPr/>
        </p:nvSpPr>
        <p:spPr bwMode="auto">
          <a:xfrm>
            <a:off x="6858000" y="3590925"/>
            <a:ext cx="336550" cy="382588"/>
          </a:xfrm>
          <a:prstGeom prst="rect">
            <a:avLst/>
          </a:prstGeom>
          <a:solidFill>
            <a:srgbClr val="FFFFCC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6423" name="Text Box 38"/>
          <p:cNvSpPr txBox="1">
            <a:spLocks noChangeArrowheads="1"/>
          </p:cNvSpPr>
          <p:nvPr/>
        </p:nvSpPr>
        <p:spPr bwMode="auto">
          <a:xfrm>
            <a:off x="4495800" y="41243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6424" name="Text Box 39"/>
          <p:cNvSpPr txBox="1">
            <a:spLocks noChangeArrowheads="1"/>
          </p:cNvSpPr>
          <p:nvPr/>
        </p:nvSpPr>
        <p:spPr bwMode="auto">
          <a:xfrm>
            <a:off x="3429000" y="5257800"/>
            <a:ext cx="336550" cy="382588"/>
          </a:xfrm>
          <a:prstGeom prst="rect">
            <a:avLst/>
          </a:prstGeom>
          <a:solidFill>
            <a:srgbClr val="FFFFCC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9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6425" name="Text Box 40"/>
          <p:cNvSpPr txBox="1">
            <a:spLocks noChangeArrowheads="1"/>
          </p:cNvSpPr>
          <p:nvPr/>
        </p:nvSpPr>
        <p:spPr bwMode="auto">
          <a:xfrm>
            <a:off x="5486400" y="5257800"/>
            <a:ext cx="336550" cy="382588"/>
          </a:xfrm>
          <a:prstGeom prst="rect">
            <a:avLst/>
          </a:prstGeom>
          <a:solidFill>
            <a:srgbClr val="FFFFCC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5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6426" name="Line 43"/>
          <p:cNvSpPr>
            <a:spLocks noChangeShapeType="1"/>
          </p:cNvSpPr>
          <p:nvPr/>
        </p:nvSpPr>
        <p:spPr bwMode="auto">
          <a:xfrm flipH="1" flipV="1">
            <a:off x="3657600" y="2971800"/>
            <a:ext cx="68580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427" name="Line 44"/>
          <p:cNvSpPr>
            <a:spLocks noChangeShapeType="1"/>
          </p:cNvSpPr>
          <p:nvPr/>
        </p:nvSpPr>
        <p:spPr bwMode="auto">
          <a:xfrm flipH="1" flipV="1">
            <a:off x="3962400" y="27432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428" name="Line 45"/>
          <p:cNvSpPr>
            <a:spLocks noChangeShapeType="1"/>
          </p:cNvSpPr>
          <p:nvPr/>
        </p:nvSpPr>
        <p:spPr bwMode="auto">
          <a:xfrm flipH="1" flipV="1">
            <a:off x="4876800" y="39624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429" name="Line 46"/>
          <p:cNvSpPr>
            <a:spLocks noChangeShapeType="1"/>
          </p:cNvSpPr>
          <p:nvPr/>
        </p:nvSpPr>
        <p:spPr bwMode="auto">
          <a:xfrm flipH="1" flipV="1">
            <a:off x="4800600" y="4114800"/>
            <a:ext cx="53340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430" name="Line 47"/>
          <p:cNvSpPr>
            <a:spLocks noChangeShapeType="1"/>
          </p:cNvSpPr>
          <p:nvPr/>
        </p:nvSpPr>
        <p:spPr bwMode="auto">
          <a:xfrm flipV="1">
            <a:off x="3962400" y="4114800"/>
            <a:ext cx="533400" cy="609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431" name="Line 48"/>
          <p:cNvSpPr>
            <a:spLocks noChangeShapeType="1"/>
          </p:cNvSpPr>
          <p:nvPr/>
        </p:nvSpPr>
        <p:spPr bwMode="auto">
          <a:xfrm flipV="1">
            <a:off x="2895600" y="3962400"/>
            <a:ext cx="1447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432" name="Text Box 49"/>
          <p:cNvSpPr txBox="1">
            <a:spLocks noChangeArrowheads="1"/>
          </p:cNvSpPr>
          <p:nvPr/>
        </p:nvSpPr>
        <p:spPr bwMode="auto">
          <a:xfrm>
            <a:off x="304800" y="4724400"/>
            <a:ext cx="272891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Distance(C) = 1 + 2 = 3 Distance(E) = 1 + 2 = 3 Distance(F) = 1 + 8 = 9 Distance(G) = 1 + 4 = 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5D73ED7-75B9-4D9A-8836-D56C306359F9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  <a:ea typeface="ＭＳ Ｐゴシック" panose="020B0600070205080204" pitchFamily="34" charset="-128"/>
              </a:rPr>
              <a:t>Example: Continued...</a:t>
            </a:r>
            <a:endParaRPr lang="en-US" altLang="en-US">
              <a:solidFill>
                <a:srgbClr val="FF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17412" name="Oval 3"/>
          <p:cNvSpPr>
            <a:spLocks noChangeArrowheads="1"/>
          </p:cNvSpPr>
          <p:nvPr/>
        </p:nvSpPr>
        <p:spPr bwMode="auto">
          <a:xfrm>
            <a:off x="33528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A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7413" name="Oval 4"/>
          <p:cNvSpPr>
            <a:spLocks noChangeArrowheads="1"/>
          </p:cNvSpPr>
          <p:nvPr/>
        </p:nvSpPr>
        <p:spPr bwMode="auto">
          <a:xfrm>
            <a:off x="54102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G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7414" name="Oval 5"/>
          <p:cNvSpPr>
            <a:spLocks noChangeArrowheads="1"/>
          </p:cNvSpPr>
          <p:nvPr/>
        </p:nvSpPr>
        <p:spPr bwMode="auto">
          <a:xfrm>
            <a:off x="33528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F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7415" name="AutoShape 6"/>
          <p:cNvCxnSpPr>
            <a:cxnSpLocks noChangeShapeType="1"/>
            <a:stCxn id="17413" idx="2"/>
            <a:endCxn id="17414" idx="6"/>
          </p:cNvCxnSpPr>
          <p:nvPr/>
        </p:nvCxnSpPr>
        <p:spPr bwMode="auto">
          <a:xfrm flipH="1">
            <a:off x="3810000" y="4953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16" name="AutoShape 7"/>
          <p:cNvCxnSpPr>
            <a:cxnSpLocks noChangeShapeType="1"/>
            <a:stCxn id="17428" idx="2"/>
            <a:endCxn id="17425" idx="6"/>
          </p:cNvCxnSpPr>
          <p:nvPr/>
        </p:nvCxnSpPr>
        <p:spPr bwMode="auto">
          <a:xfrm flipH="1">
            <a:off x="2819400" y="3810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17" name="AutoShape 8"/>
          <p:cNvCxnSpPr>
            <a:cxnSpLocks noChangeShapeType="1"/>
            <a:stCxn id="17412" idx="6"/>
            <a:endCxn id="17418" idx="2"/>
          </p:cNvCxnSpPr>
          <p:nvPr/>
        </p:nvCxnSpPr>
        <p:spPr bwMode="auto">
          <a:xfrm>
            <a:off x="3810000" y="2667000"/>
            <a:ext cx="1585913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18" name="Oval 9"/>
          <p:cNvSpPr>
            <a:spLocks noChangeArrowheads="1"/>
          </p:cNvSpPr>
          <p:nvPr/>
        </p:nvSpPr>
        <p:spPr bwMode="auto">
          <a:xfrm>
            <a:off x="5410200" y="2438400"/>
            <a:ext cx="457200" cy="457200"/>
          </a:xfrm>
          <a:prstGeom prst="ellipse">
            <a:avLst/>
          </a:prstGeom>
          <a:solidFill>
            <a:schemeClr val="folHlink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B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7419" name="Oval 10"/>
          <p:cNvSpPr>
            <a:spLocks noChangeArrowheads="1"/>
          </p:cNvSpPr>
          <p:nvPr/>
        </p:nvSpPr>
        <p:spPr bwMode="auto">
          <a:xfrm>
            <a:off x="63246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E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7420" name="AutoShape 11"/>
          <p:cNvCxnSpPr>
            <a:cxnSpLocks noChangeShapeType="1"/>
            <a:stCxn id="17419" idx="2"/>
            <a:endCxn id="17428" idx="6"/>
          </p:cNvCxnSpPr>
          <p:nvPr/>
        </p:nvCxnSpPr>
        <p:spPr bwMode="auto">
          <a:xfrm flipH="1">
            <a:off x="4876800" y="3810000"/>
            <a:ext cx="14478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1" name="AutoShape 12"/>
          <p:cNvCxnSpPr>
            <a:cxnSpLocks noChangeShapeType="1"/>
            <a:stCxn id="17419" idx="1"/>
            <a:endCxn id="17418" idx="5"/>
          </p:cNvCxnSpPr>
          <p:nvPr/>
        </p:nvCxnSpPr>
        <p:spPr bwMode="auto">
          <a:xfrm flipH="1" flipV="1">
            <a:off x="5800725" y="2843213"/>
            <a:ext cx="590550" cy="804862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2" name="AutoShape 13"/>
          <p:cNvCxnSpPr>
            <a:cxnSpLocks noChangeShapeType="1"/>
            <a:stCxn id="17413" idx="7"/>
            <a:endCxn id="17419" idx="3"/>
          </p:cNvCxnSpPr>
          <p:nvPr/>
        </p:nvCxnSpPr>
        <p:spPr bwMode="auto">
          <a:xfrm flipV="1">
            <a:off x="5800725" y="3971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3" name="AutoShape 14"/>
          <p:cNvCxnSpPr>
            <a:cxnSpLocks noChangeShapeType="1"/>
            <a:stCxn id="17412" idx="5"/>
            <a:endCxn id="17428" idx="1"/>
          </p:cNvCxnSpPr>
          <p:nvPr/>
        </p:nvCxnSpPr>
        <p:spPr bwMode="auto">
          <a:xfrm>
            <a:off x="3743325" y="2828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4" name="AutoShape 15"/>
          <p:cNvCxnSpPr>
            <a:cxnSpLocks noChangeShapeType="1"/>
            <a:stCxn id="17418" idx="3"/>
            <a:endCxn id="17428" idx="7"/>
          </p:cNvCxnSpPr>
          <p:nvPr/>
        </p:nvCxnSpPr>
        <p:spPr bwMode="auto">
          <a:xfrm flipH="1">
            <a:off x="4810125" y="2843213"/>
            <a:ext cx="666750" cy="804862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25" name="Oval 16"/>
          <p:cNvSpPr>
            <a:spLocks noChangeArrowheads="1"/>
          </p:cNvSpPr>
          <p:nvPr/>
        </p:nvSpPr>
        <p:spPr bwMode="auto">
          <a:xfrm>
            <a:off x="23622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C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7426" name="AutoShape 17"/>
          <p:cNvCxnSpPr>
            <a:cxnSpLocks noChangeShapeType="1"/>
            <a:stCxn id="17425" idx="7"/>
            <a:endCxn id="17412" idx="3"/>
          </p:cNvCxnSpPr>
          <p:nvPr/>
        </p:nvCxnSpPr>
        <p:spPr bwMode="auto">
          <a:xfrm flipV="1">
            <a:off x="27527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7" name="AutoShape 18"/>
          <p:cNvCxnSpPr>
            <a:cxnSpLocks noChangeShapeType="1"/>
            <a:stCxn id="17414" idx="1"/>
            <a:endCxn id="17425" idx="5"/>
          </p:cNvCxnSpPr>
          <p:nvPr/>
        </p:nvCxnSpPr>
        <p:spPr bwMode="auto">
          <a:xfrm flipH="1" flipV="1">
            <a:off x="27527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28" name="Oval 19"/>
          <p:cNvSpPr>
            <a:spLocks noChangeArrowheads="1"/>
          </p:cNvSpPr>
          <p:nvPr/>
        </p:nvSpPr>
        <p:spPr bwMode="auto">
          <a:xfrm>
            <a:off x="44196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7429" name="AutoShape 20"/>
          <p:cNvCxnSpPr>
            <a:cxnSpLocks noChangeShapeType="1"/>
            <a:stCxn id="17413" idx="1"/>
            <a:endCxn id="17428" idx="5"/>
          </p:cNvCxnSpPr>
          <p:nvPr/>
        </p:nvCxnSpPr>
        <p:spPr bwMode="auto">
          <a:xfrm flipH="1" flipV="1">
            <a:off x="48101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30" name="AutoShape 21"/>
          <p:cNvCxnSpPr>
            <a:cxnSpLocks noChangeShapeType="1"/>
            <a:stCxn id="17414" idx="7"/>
            <a:endCxn id="17428" idx="3"/>
          </p:cNvCxnSpPr>
          <p:nvPr/>
        </p:nvCxnSpPr>
        <p:spPr bwMode="auto">
          <a:xfrm flipV="1">
            <a:off x="3743325" y="3971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31" name="Text Box 22"/>
          <p:cNvSpPr txBox="1">
            <a:spLocks noChangeArrowheads="1"/>
          </p:cNvSpPr>
          <p:nvPr/>
        </p:nvSpPr>
        <p:spPr bwMode="auto">
          <a:xfrm>
            <a:off x="2757488" y="3078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7432" name="Text Box 23"/>
          <p:cNvSpPr txBox="1">
            <a:spLocks noChangeArrowheads="1"/>
          </p:cNvSpPr>
          <p:nvPr/>
        </p:nvSpPr>
        <p:spPr bwMode="auto">
          <a:xfrm>
            <a:off x="4067175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7433" name="Text Box 24"/>
          <p:cNvSpPr txBox="1">
            <a:spLocks noChangeArrowheads="1"/>
          </p:cNvSpPr>
          <p:nvPr/>
        </p:nvSpPr>
        <p:spPr bwMode="auto">
          <a:xfrm>
            <a:off x="4495800" y="2438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7434" name="Text Box 25"/>
          <p:cNvSpPr txBox="1">
            <a:spLocks noChangeArrowheads="1"/>
          </p:cNvSpPr>
          <p:nvPr/>
        </p:nvSpPr>
        <p:spPr bwMode="auto">
          <a:xfrm>
            <a:off x="5973763" y="3063875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17435" name="Text Box 26"/>
          <p:cNvSpPr txBox="1">
            <a:spLocks noChangeArrowheads="1"/>
          </p:cNvSpPr>
          <p:nvPr/>
        </p:nvSpPr>
        <p:spPr bwMode="auto">
          <a:xfrm>
            <a:off x="4922838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7436" name="Text Box 27"/>
          <p:cNvSpPr txBox="1">
            <a:spLocks noChangeArrowheads="1"/>
          </p:cNvSpPr>
          <p:nvPr/>
        </p:nvSpPr>
        <p:spPr bwMode="auto">
          <a:xfrm>
            <a:off x="6172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7437" name="Text Box 28"/>
          <p:cNvSpPr txBox="1">
            <a:spLocks noChangeArrowheads="1"/>
          </p:cNvSpPr>
          <p:nvPr/>
        </p:nvSpPr>
        <p:spPr bwMode="auto">
          <a:xfrm>
            <a:off x="51816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7438" name="Text Box 29"/>
          <p:cNvSpPr txBox="1">
            <a:spLocks noChangeArrowheads="1"/>
          </p:cNvSpPr>
          <p:nvPr/>
        </p:nvSpPr>
        <p:spPr bwMode="auto">
          <a:xfrm>
            <a:off x="54864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7439" name="Text Box 30"/>
          <p:cNvSpPr txBox="1">
            <a:spLocks noChangeArrowheads="1"/>
          </p:cNvSpPr>
          <p:nvPr/>
        </p:nvSpPr>
        <p:spPr bwMode="auto">
          <a:xfrm>
            <a:off x="34290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7440" name="Text Box 31"/>
          <p:cNvSpPr txBox="1">
            <a:spLocks noChangeArrowheads="1"/>
          </p:cNvSpPr>
          <p:nvPr/>
        </p:nvSpPr>
        <p:spPr bwMode="auto">
          <a:xfrm>
            <a:off x="3886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17441" name="Text Box 32"/>
          <p:cNvSpPr txBox="1">
            <a:spLocks noChangeArrowheads="1"/>
          </p:cNvSpPr>
          <p:nvPr/>
        </p:nvSpPr>
        <p:spPr bwMode="auto">
          <a:xfrm>
            <a:off x="28194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7442" name="Text Box 33"/>
          <p:cNvSpPr txBox="1">
            <a:spLocks noChangeArrowheads="1"/>
          </p:cNvSpPr>
          <p:nvPr/>
        </p:nvSpPr>
        <p:spPr bwMode="auto">
          <a:xfrm>
            <a:off x="4572000" y="4724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7443" name="Text Box 34"/>
          <p:cNvSpPr txBox="1">
            <a:spLocks noChangeArrowheads="1"/>
          </p:cNvSpPr>
          <p:nvPr/>
        </p:nvSpPr>
        <p:spPr bwMode="auto">
          <a:xfrm>
            <a:off x="3429000" y="2027238"/>
            <a:ext cx="320675" cy="36671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7444" name="Text Box 35"/>
          <p:cNvSpPr txBox="1">
            <a:spLocks noChangeArrowheads="1"/>
          </p:cNvSpPr>
          <p:nvPr/>
        </p:nvSpPr>
        <p:spPr bwMode="auto">
          <a:xfrm>
            <a:off x="5486400" y="20574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7445" name="Text Box 36"/>
          <p:cNvSpPr txBox="1">
            <a:spLocks noChangeArrowheads="1"/>
          </p:cNvSpPr>
          <p:nvPr/>
        </p:nvSpPr>
        <p:spPr bwMode="auto">
          <a:xfrm>
            <a:off x="1981200" y="36671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7446" name="Text Box 37"/>
          <p:cNvSpPr txBox="1">
            <a:spLocks noChangeArrowheads="1"/>
          </p:cNvSpPr>
          <p:nvPr/>
        </p:nvSpPr>
        <p:spPr bwMode="auto">
          <a:xfrm>
            <a:off x="6858000" y="35909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7447" name="Text Box 38"/>
          <p:cNvSpPr txBox="1">
            <a:spLocks noChangeArrowheads="1"/>
          </p:cNvSpPr>
          <p:nvPr/>
        </p:nvSpPr>
        <p:spPr bwMode="auto">
          <a:xfrm>
            <a:off x="4495800" y="41243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7448" name="Text Box 42"/>
          <p:cNvSpPr txBox="1">
            <a:spLocks noChangeArrowheads="1"/>
          </p:cNvSpPr>
          <p:nvPr/>
        </p:nvSpPr>
        <p:spPr bwMode="auto">
          <a:xfrm>
            <a:off x="914400" y="1676400"/>
            <a:ext cx="7048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Pick vertex in List with minimum distance (B) and update neighbors</a:t>
            </a:r>
          </a:p>
        </p:txBody>
      </p:sp>
      <p:sp>
        <p:nvSpPr>
          <p:cNvPr id="17449" name="Line 43"/>
          <p:cNvSpPr>
            <a:spLocks noChangeShapeType="1"/>
          </p:cNvSpPr>
          <p:nvPr/>
        </p:nvSpPr>
        <p:spPr bwMode="auto">
          <a:xfrm flipH="1" flipV="1">
            <a:off x="3657600" y="2971800"/>
            <a:ext cx="68580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7450" name="Line 44"/>
          <p:cNvSpPr>
            <a:spLocks noChangeShapeType="1"/>
          </p:cNvSpPr>
          <p:nvPr/>
        </p:nvSpPr>
        <p:spPr bwMode="auto">
          <a:xfrm flipH="1" flipV="1">
            <a:off x="3962400" y="27432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7451" name="Line 45"/>
          <p:cNvSpPr>
            <a:spLocks noChangeShapeType="1"/>
          </p:cNvSpPr>
          <p:nvPr/>
        </p:nvSpPr>
        <p:spPr bwMode="auto">
          <a:xfrm flipH="1" flipV="1">
            <a:off x="4876800" y="39624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7452" name="Line 46"/>
          <p:cNvSpPr>
            <a:spLocks noChangeShapeType="1"/>
          </p:cNvSpPr>
          <p:nvPr/>
        </p:nvSpPr>
        <p:spPr bwMode="auto">
          <a:xfrm flipH="1" flipV="1">
            <a:off x="4800600" y="4114800"/>
            <a:ext cx="53340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7453" name="Line 47"/>
          <p:cNvSpPr>
            <a:spLocks noChangeShapeType="1"/>
          </p:cNvSpPr>
          <p:nvPr/>
        </p:nvSpPr>
        <p:spPr bwMode="auto">
          <a:xfrm flipV="1">
            <a:off x="3962400" y="4114800"/>
            <a:ext cx="533400" cy="609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7454" name="Line 48"/>
          <p:cNvSpPr>
            <a:spLocks noChangeShapeType="1"/>
          </p:cNvSpPr>
          <p:nvPr/>
        </p:nvSpPr>
        <p:spPr bwMode="auto">
          <a:xfrm flipV="1">
            <a:off x="2895600" y="3962400"/>
            <a:ext cx="1447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7455" name="Text Box 49"/>
          <p:cNvSpPr txBox="1">
            <a:spLocks noChangeArrowheads="1"/>
          </p:cNvSpPr>
          <p:nvPr/>
        </p:nvSpPr>
        <p:spPr bwMode="auto">
          <a:xfrm>
            <a:off x="3429000" y="52578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9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7456" name="Text Box 50"/>
          <p:cNvSpPr txBox="1">
            <a:spLocks noChangeArrowheads="1"/>
          </p:cNvSpPr>
          <p:nvPr/>
        </p:nvSpPr>
        <p:spPr bwMode="auto">
          <a:xfrm>
            <a:off x="5486400" y="52578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5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7457" name="Text Box 51"/>
          <p:cNvSpPr txBox="1">
            <a:spLocks noChangeArrowheads="1"/>
          </p:cNvSpPr>
          <p:nvPr/>
        </p:nvSpPr>
        <p:spPr bwMode="auto">
          <a:xfrm>
            <a:off x="6172200" y="4419600"/>
            <a:ext cx="27432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Note : distance(D)</a:t>
            </a:r>
            <a:r>
              <a:rPr lang="en-US" altLang="en-US" sz="1800" baseline="-25000">
                <a:latin typeface="Arial" panose="020B0604020202020204" pitchFamily="34" charset="0"/>
              </a:rPr>
              <a:t> </a:t>
            </a:r>
            <a:r>
              <a:rPr lang="en-US" altLang="en-US" sz="1800">
                <a:latin typeface="Arial" panose="020B0604020202020204" pitchFamily="34" charset="0"/>
              </a:rPr>
              <a:t>not updated since D is already known and distance(E) not updated since it is larger than previously computed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C1FF564-B713-4506-8529-050F6D84C4F1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  <a:ea typeface="ＭＳ Ｐゴシック" panose="020B0600070205080204" pitchFamily="34" charset="-128"/>
              </a:rPr>
              <a:t>Example: Continued...</a:t>
            </a:r>
            <a:endParaRPr lang="en-US" altLang="en-US">
              <a:solidFill>
                <a:srgbClr val="FF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18436" name="Oval 3"/>
          <p:cNvSpPr>
            <a:spLocks noChangeArrowheads="1"/>
          </p:cNvSpPr>
          <p:nvPr/>
        </p:nvSpPr>
        <p:spPr bwMode="auto">
          <a:xfrm>
            <a:off x="33528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A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8437" name="Oval 4"/>
          <p:cNvSpPr>
            <a:spLocks noChangeArrowheads="1"/>
          </p:cNvSpPr>
          <p:nvPr/>
        </p:nvSpPr>
        <p:spPr bwMode="auto">
          <a:xfrm>
            <a:off x="54102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G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8438" name="Oval 5"/>
          <p:cNvSpPr>
            <a:spLocks noChangeArrowheads="1"/>
          </p:cNvSpPr>
          <p:nvPr/>
        </p:nvSpPr>
        <p:spPr bwMode="auto">
          <a:xfrm>
            <a:off x="33528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F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8439" name="AutoShape 6"/>
          <p:cNvCxnSpPr>
            <a:cxnSpLocks noChangeShapeType="1"/>
            <a:stCxn id="18437" idx="2"/>
            <a:endCxn id="18438" idx="6"/>
          </p:cNvCxnSpPr>
          <p:nvPr/>
        </p:nvCxnSpPr>
        <p:spPr bwMode="auto">
          <a:xfrm flipH="1">
            <a:off x="3810000" y="4953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40" name="AutoShape 7"/>
          <p:cNvCxnSpPr>
            <a:cxnSpLocks noChangeShapeType="1"/>
            <a:stCxn id="18452" idx="2"/>
            <a:endCxn id="18449" idx="6"/>
          </p:cNvCxnSpPr>
          <p:nvPr/>
        </p:nvCxnSpPr>
        <p:spPr bwMode="auto">
          <a:xfrm flipH="1">
            <a:off x="2819400" y="3810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41" name="AutoShape 8"/>
          <p:cNvCxnSpPr>
            <a:cxnSpLocks noChangeShapeType="1"/>
            <a:stCxn id="18436" idx="6"/>
            <a:endCxn id="18442" idx="2"/>
          </p:cNvCxnSpPr>
          <p:nvPr/>
        </p:nvCxnSpPr>
        <p:spPr bwMode="auto">
          <a:xfrm>
            <a:off x="3810000" y="2667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42" name="Oval 9"/>
          <p:cNvSpPr>
            <a:spLocks noChangeArrowheads="1"/>
          </p:cNvSpPr>
          <p:nvPr/>
        </p:nvSpPr>
        <p:spPr bwMode="auto">
          <a:xfrm>
            <a:off x="54102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B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8443" name="Oval 10"/>
          <p:cNvSpPr>
            <a:spLocks noChangeArrowheads="1"/>
          </p:cNvSpPr>
          <p:nvPr/>
        </p:nvSpPr>
        <p:spPr bwMode="auto">
          <a:xfrm>
            <a:off x="6324600" y="3581400"/>
            <a:ext cx="457200" cy="457200"/>
          </a:xfrm>
          <a:prstGeom prst="ellipse">
            <a:avLst/>
          </a:prstGeom>
          <a:solidFill>
            <a:schemeClr val="folHlink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E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8444" name="AutoShape 11"/>
          <p:cNvCxnSpPr>
            <a:cxnSpLocks noChangeShapeType="1"/>
            <a:stCxn id="18443" idx="2"/>
            <a:endCxn id="18452" idx="6"/>
          </p:cNvCxnSpPr>
          <p:nvPr/>
        </p:nvCxnSpPr>
        <p:spPr bwMode="auto">
          <a:xfrm flipH="1">
            <a:off x="4876800" y="3810000"/>
            <a:ext cx="1433513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45" name="AutoShape 12"/>
          <p:cNvCxnSpPr>
            <a:cxnSpLocks noChangeShapeType="1"/>
            <a:stCxn id="18443" idx="1"/>
            <a:endCxn id="18442" idx="5"/>
          </p:cNvCxnSpPr>
          <p:nvPr/>
        </p:nvCxnSpPr>
        <p:spPr bwMode="auto">
          <a:xfrm flipH="1" flipV="1">
            <a:off x="5800725" y="2828925"/>
            <a:ext cx="590550" cy="8048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46" name="AutoShape 13"/>
          <p:cNvCxnSpPr>
            <a:cxnSpLocks noChangeShapeType="1"/>
            <a:stCxn id="18437" idx="7"/>
            <a:endCxn id="18443" idx="3"/>
          </p:cNvCxnSpPr>
          <p:nvPr/>
        </p:nvCxnSpPr>
        <p:spPr bwMode="auto">
          <a:xfrm flipV="1">
            <a:off x="5800725" y="3986213"/>
            <a:ext cx="590550" cy="804862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47" name="AutoShape 14"/>
          <p:cNvCxnSpPr>
            <a:cxnSpLocks noChangeShapeType="1"/>
            <a:stCxn id="18436" idx="5"/>
            <a:endCxn id="18452" idx="1"/>
          </p:cNvCxnSpPr>
          <p:nvPr/>
        </p:nvCxnSpPr>
        <p:spPr bwMode="auto">
          <a:xfrm>
            <a:off x="3743325" y="2828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48" name="AutoShape 15"/>
          <p:cNvCxnSpPr>
            <a:cxnSpLocks noChangeShapeType="1"/>
            <a:stCxn id="18442" idx="3"/>
            <a:endCxn id="18452" idx="7"/>
          </p:cNvCxnSpPr>
          <p:nvPr/>
        </p:nvCxnSpPr>
        <p:spPr bwMode="auto">
          <a:xfrm flipH="1">
            <a:off x="48101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49" name="Oval 16"/>
          <p:cNvSpPr>
            <a:spLocks noChangeArrowheads="1"/>
          </p:cNvSpPr>
          <p:nvPr/>
        </p:nvSpPr>
        <p:spPr bwMode="auto">
          <a:xfrm>
            <a:off x="23622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C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8450" name="AutoShape 17"/>
          <p:cNvCxnSpPr>
            <a:cxnSpLocks noChangeShapeType="1"/>
            <a:stCxn id="18449" idx="7"/>
            <a:endCxn id="18436" idx="3"/>
          </p:cNvCxnSpPr>
          <p:nvPr/>
        </p:nvCxnSpPr>
        <p:spPr bwMode="auto">
          <a:xfrm flipV="1">
            <a:off x="27527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1" name="AutoShape 18"/>
          <p:cNvCxnSpPr>
            <a:cxnSpLocks noChangeShapeType="1"/>
            <a:stCxn id="18438" idx="1"/>
            <a:endCxn id="18449" idx="5"/>
          </p:cNvCxnSpPr>
          <p:nvPr/>
        </p:nvCxnSpPr>
        <p:spPr bwMode="auto">
          <a:xfrm flipH="1" flipV="1">
            <a:off x="27527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52" name="Oval 19"/>
          <p:cNvSpPr>
            <a:spLocks noChangeArrowheads="1"/>
          </p:cNvSpPr>
          <p:nvPr/>
        </p:nvSpPr>
        <p:spPr bwMode="auto">
          <a:xfrm>
            <a:off x="44196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8453" name="AutoShape 20"/>
          <p:cNvCxnSpPr>
            <a:cxnSpLocks noChangeShapeType="1"/>
            <a:stCxn id="18437" idx="1"/>
            <a:endCxn id="18452" idx="5"/>
          </p:cNvCxnSpPr>
          <p:nvPr/>
        </p:nvCxnSpPr>
        <p:spPr bwMode="auto">
          <a:xfrm flipH="1" flipV="1">
            <a:off x="48101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4" name="AutoShape 21"/>
          <p:cNvCxnSpPr>
            <a:cxnSpLocks noChangeShapeType="1"/>
            <a:stCxn id="18438" idx="7"/>
            <a:endCxn id="18452" idx="3"/>
          </p:cNvCxnSpPr>
          <p:nvPr/>
        </p:nvCxnSpPr>
        <p:spPr bwMode="auto">
          <a:xfrm flipV="1">
            <a:off x="3743325" y="3971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55" name="Text Box 22"/>
          <p:cNvSpPr txBox="1">
            <a:spLocks noChangeArrowheads="1"/>
          </p:cNvSpPr>
          <p:nvPr/>
        </p:nvSpPr>
        <p:spPr bwMode="auto">
          <a:xfrm>
            <a:off x="2757488" y="3078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8456" name="Text Box 23"/>
          <p:cNvSpPr txBox="1">
            <a:spLocks noChangeArrowheads="1"/>
          </p:cNvSpPr>
          <p:nvPr/>
        </p:nvSpPr>
        <p:spPr bwMode="auto">
          <a:xfrm>
            <a:off x="4067175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8457" name="Text Box 24"/>
          <p:cNvSpPr txBox="1">
            <a:spLocks noChangeArrowheads="1"/>
          </p:cNvSpPr>
          <p:nvPr/>
        </p:nvSpPr>
        <p:spPr bwMode="auto">
          <a:xfrm>
            <a:off x="4495800" y="2438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8458" name="Text Box 25"/>
          <p:cNvSpPr txBox="1">
            <a:spLocks noChangeArrowheads="1"/>
          </p:cNvSpPr>
          <p:nvPr/>
        </p:nvSpPr>
        <p:spPr bwMode="auto">
          <a:xfrm>
            <a:off x="5973763" y="3063875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18459" name="Text Box 26"/>
          <p:cNvSpPr txBox="1">
            <a:spLocks noChangeArrowheads="1"/>
          </p:cNvSpPr>
          <p:nvPr/>
        </p:nvSpPr>
        <p:spPr bwMode="auto">
          <a:xfrm>
            <a:off x="4922838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8460" name="Text Box 27"/>
          <p:cNvSpPr txBox="1">
            <a:spLocks noChangeArrowheads="1"/>
          </p:cNvSpPr>
          <p:nvPr/>
        </p:nvSpPr>
        <p:spPr bwMode="auto">
          <a:xfrm>
            <a:off x="6172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8461" name="Text Box 28"/>
          <p:cNvSpPr txBox="1">
            <a:spLocks noChangeArrowheads="1"/>
          </p:cNvSpPr>
          <p:nvPr/>
        </p:nvSpPr>
        <p:spPr bwMode="auto">
          <a:xfrm>
            <a:off x="51816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8462" name="Text Box 29"/>
          <p:cNvSpPr txBox="1">
            <a:spLocks noChangeArrowheads="1"/>
          </p:cNvSpPr>
          <p:nvPr/>
        </p:nvSpPr>
        <p:spPr bwMode="auto">
          <a:xfrm>
            <a:off x="54864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8463" name="Text Box 30"/>
          <p:cNvSpPr txBox="1">
            <a:spLocks noChangeArrowheads="1"/>
          </p:cNvSpPr>
          <p:nvPr/>
        </p:nvSpPr>
        <p:spPr bwMode="auto">
          <a:xfrm>
            <a:off x="34290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8464" name="Text Box 31"/>
          <p:cNvSpPr txBox="1">
            <a:spLocks noChangeArrowheads="1"/>
          </p:cNvSpPr>
          <p:nvPr/>
        </p:nvSpPr>
        <p:spPr bwMode="auto">
          <a:xfrm>
            <a:off x="3886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18465" name="Text Box 32"/>
          <p:cNvSpPr txBox="1">
            <a:spLocks noChangeArrowheads="1"/>
          </p:cNvSpPr>
          <p:nvPr/>
        </p:nvSpPr>
        <p:spPr bwMode="auto">
          <a:xfrm>
            <a:off x="28194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8466" name="Text Box 33"/>
          <p:cNvSpPr txBox="1">
            <a:spLocks noChangeArrowheads="1"/>
          </p:cNvSpPr>
          <p:nvPr/>
        </p:nvSpPr>
        <p:spPr bwMode="auto">
          <a:xfrm>
            <a:off x="4572000" y="4724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8467" name="Text Box 34"/>
          <p:cNvSpPr txBox="1">
            <a:spLocks noChangeArrowheads="1"/>
          </p:cNvSpPr>
          <p:nvPr/>
        </p:nvSpPr>
        <p:spPr bwMode="auto">
          <a:xfrm>
            <a:off x="3429000" y="2027238"/>
            <a:ext cx="320675" cy="36671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8468" name="Text Box 35"/>
          <p:cNvSpPr txBox="1">
            <a:spLocks noChangeArrowheads="1"/>
          </p:cNvSpPr>
          <p:nvPr/>
        </p:nvSpPr>
        <p:spPr bwMode="auto">
          <a:xfrm>
            <a:off x="5486400" y="20574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8469" name="Text Box 36"/>
          <p:cNvSpPr txBox="1">
            <a:spLocks noChangeArrowheads="1"/>
          </p:cNvSpPr>
          <p:nvPr/>
        </p:nvSpPr>
        <p:spPr bwMode="auto">
          <a:xfrm>
            <a:off x="1981200" y="36671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8470" name="Text Box 37"/>
          <p:cNvSpPr txBox="1">
            <a:spLocks noChangeArrowheads="1"/>
          </p:cNvSpPr>
          <p:nvPr/>
        </p:nvSpPr>
        <p:spPr bwMode="auto">
          <a:xfrm>
            <a:off x="6858000" y="35909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8471" name="Text Box 38"/>
          <p:cNvSpPr txBox="1">
            <a:spLocks noChangeArrowheads="1"/>
          </p:cNvSpPr>
          <p:nvPr/>
        </p:nvSpPr>
        <p:spPr bwMode="auto">
          <a:xfrm>
            <a:off x="4495800" y="41243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8472" name="Line 42"/>
          <p:cNvSpPr>
            <a:spLocks noChangeShapeType="1"/>
          </p:cNvSpPr>
          <p:nvPr/>
        </p:nvSpPr>
        <p:spPr bwMode="auto">
          <a:xfrm flipH="1" flipV="1">
            <a:off x="3657600" y="2971800"/>
            <a:ext cx="68580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73" name="Line 43"/>
          <p:cNvSpPr>
            <a:spLocks noChangeShapeType="1"/>
          </p:cNvSpPr>
          <p:nvPr/>
        </p:nvSpPr>
        <p:spPr bwMode="auto">
          <a:xfrm flipH="1" flipV="1">
            <a:off x="3962400" y="27432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74" name="Line 44"/>
          <p:cNvSpPr>
            <a:spLocks noChangeShapeType="1"/>
          </p:cNvSpPr>
          <p:nvPr/>
        </p:nvSpPr>
        <p:spPr bwMode="auto">
          <a:xfrm flipH="1" flipV="1">
            <a:off x="4876800" y="39624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75" name="Line 45"/>
          <p:cNvSpPr>
            <a:spLocks noChangeShapeType="1"/>
          </p:cNvSpPr>
          <p:nvPr/>
        </p:nvSpPr>
        <p:spPr bwMode="auto">
          <a:xfrm flipH="1" flipV="1">
            <a:off x="4800600" y="4114800"/>
            <a:ext cx="53340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76" name="Line 46"/>
          <p:cNvSpPr>
            <a:spLocks noChangeShapeType="1"/>
          </p:cNvSpPr>
          <p:nvPr/>
        </p:nvSpPr>
        <p:spPr bwMode="auto">
          <a:xfrm flipV="1">
            <a:off x="3962400" y="4114800"/>
            <a:ext cx="533400" cy="609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77" name="Line 47"/>
          <p:cNvSpPr>
            <a:spLocks noChangeShapeType="1"/>
          </p:cNvSpPr>
          <p:nvPr/>
        </p:nvSpPr>
        <p:spPr bwMode="auto">
          <a:xfrm flipV="1">
            <a:off x="2895600" y="3962400"/>
            <a:ext cx="1447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78" name="Text Box 48"/>
          <p:cNvSpPr txBox="1">
            <a:spLocks noChangeArrowheads="1"/>
          </p:cNvSpPr>
          <p:nvPr/>
        </p:nvSpPr>
        <p:spPr bwMode="auto">
          <a:xfrm>
            <a:off x="3429000" y="52578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9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8479" name="Text Box 49"/>
          <p:cNvSpPr txBox="1">
            <a:spLocks noChangeArrowheads="1"/>
          </p:cNvSpPr>
          <p:nvPr/>
        </p:nvSpPr>
        <p:spPr bwMode="auto">
          <a:xfrm>
            <a:off x="5486400" y="52578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5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8480" name="Text Box 50"/>
          <p:cNvSpPr txBox="1">
            <a:spLocks noChangeArrowheads="1"/>
          </p:cNvSpPr>
          <p:nvPr/>
        </p:nvSpPr>
        <p:spPr bwMode="auto">
          <a:xfrm>
            <a:off x="6400800" y="4953000"/>
            <a:ext cx="2133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No updating</a:t>
            </a:r>
          </a:p>
        </p:txBody>
      </p:sp>
      <p:sp>
        <p:nvSpPr>
          <p:cNvPr id="18481" name="Text Box 42"/>
          <p:cNvSpPr txBox="1">
            <a:spLocks noChangeArrowheads="1"/>
          </p:cNvSpPr>
          <p:nvPr/>
        </p:nvSpPr>
        <p:spPr bwMode="auto">
          <a:xfrm>
            <a:off x="1016000" y="1481138"/>
            <a:ext cx="6805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Pick vertex List with minimum distance (E) and update neighbors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650482-A168-436D-9D93-7E9FE0493B1A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  <a:ea typeface="ＭＳ Ｐゴシック" panose="020B0600070205080204" pitchFamily="34" charset="-128"/>
              </a:rPr>
              <a:t>Example: Continued...</a:t>
            </a:r>
            <a:endParaRPr lang="en-US" altLang="en-US">
              <a:solidFill>
                <a:srgbClr val="FF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19460" name="Oval 3"/>
          <p:cNvSpPr>
            <a:spLocks noChangeArrowheads="1"/>
          </p:cNvSpPr>
          <p:nvPr/>
        </p:nvSpPr>
        <p:spPr bwMode="auto">
          <a:xfrm>
            <a:off x="33528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A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9461" name="Oval 4"/>
          <p:cNvSpPr>
            <a:spLocks noChangeArrowheads="1"/>
          </p:cNvSpPr>
          <p:nvPr/>
        </p:nvSpPr>
        <p:spPr bwMode="auto">
          <a:xfrm>
            <a:off x="54102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G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9462" name="Oval 5"/>
          <p:cNvSpPr>
            <a:spLocks noChangeArrowheads="1"/>
          </p:cNvSpPr>
          <p:nvPr/>
        </p:nvSpPr>
        <p:spPr bwMode="auto">
          <a:xfrm>
            <a:off x="33528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F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9463" name="AutoShape 6"/>
          <p:cNvCxnSpPr>
            <a:cxnSpLocks noChangeShapeType="1"/>
            <a:stCxn id="19461" idx="2"/>
            <a:endCxn id="19462" idx="6"/>
          </p:cNvCxnSpPr>
          <p:nvPr/>
        </p:nvCxnSpPr>
        <p:spPr bwMode="auto">
          <a:xfrm flipH="1">
            <a:off x="3810000" y="4953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64" name="AutoShape 7"/>
          <p:cNvCxnSpPr>
            <a:cxnSpLocks noChangeShapeType="1"/>
            <a:stCxn id="19476" idx="2"/>
            <a:endCxn id="19473" idx="6"/>
          </p:cNvCxnSpPr>
          <p:nvPr/>
        </p:nvCxnSpPr>
        <p:spPr bwMode="auto">
          <a:xfrm flipH="1">
            <a:off x="2833688" y="3810000"/>
            <a:ext cx="1585912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65" name="AutoShape 8"/>
          <p:cNvCxnSpPr>
            <a:cxnSpLocks noChangeShapeType="1"/>
            <a:stCxn id="19460" idx="6"/>
            <a:endCxn id="19466" idx="2"/>
          </p:cNvCxnSpPr>
          <p:nvPr/>
        </p:nvCxnSpPr>
        <p:spPr bwMode="auto">
          <a:xfrm>
            <a:off x="3810000" y="2667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66" name="Oval 9"/>
          <p:cNvSpPr>
            <a:spLocks noChangeArrowheads="1"/>
          </p:cNvSpPr>
          <p:nvPr/>
        </p:nvSpPr>
        <p:spPr bwMode="auto">
          <a:xfrm>
            <a:off x="54102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B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9467" name="Oval 10"/>
          <p:cNvSpPr>
            <a:spLocks noChangeArrowheads="1"/>
          </p:cNvSpPr>
          <p:nvPr/>
        </p:nvSpPr>
        <p:spPr bwMode="auto">
          <a:xfrm>
            <a:off x="63246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E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9468" name="AutoShape 11"/>
          <p:cNvCxnSpPr>
            <a:cxnSpLocks noChangeShapeType="1"/>
            <a:stCxn id="19467" idx="2"/>
            <a:endCxn id="19476" idx="6"/>
          </p:cNvCxnSpPr>
          <p:nvPr/>
        </p:nvCxnSpPr>
        <p:spPr bwMode="auto">
          <a:xfrm flipH="1">
            <a:off x="4876800" y="3810000"/>
            <a:ext cx="14478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69" name="AutoShape 12"/>
          <p:cNvCxnSpPr>
            <a:cxnSpLocks noChangeShapeType="1"/>
            <a:stCxn id="19467" idx="1"/>
            <a:endCxn id="19466" idx="5"/>
          </p:cNvCxnSpPr>
          <p:nvPr/>
        </p:nvCxnSpPr>
        <p:spPr bwMode="auto">
          <a:xfrm flipH="1" flipV="1">
            <a:off x="5800725" y="2828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0" name="AutoShape 13"/>
          <p:cNvCxnSpPr>
            <a:cxnSpLocks noChangeShapeType="1"/>
            <a:stCxn id="19461" idx="7"/>
            <a:endCxn id="19467" idx="3"/>
          </p:cNvCxnSpPr>
          <p:nvPr/>
        </p:nvCxnSpPr>
        <p:spPr bwMode="auto">
          <a:xfrm flipV="1">
            <a:off x="5800725" y="3971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1" name="AutoShape 14"/>
          <p:cNvCxnSpPr>
            <a:cxnSpLocks noChangeShapeType="1"/>
            <a:stCxn id="19460" idx="5"/>
            <a:endCxn id="19476" idx="1"/>
          </p:cNvCxnSpPr>
          <p:nvPr/>
        </p:nvCxnSpPr>
        <p:spPr bwMode="auto">
          <a:xfrm>
            <a:off x="3743325" y="2828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2" name="AutoShape 15"/>
          <p:cNvCxnSpPr>
            <a:cxnSpLocks noChangeShapeType="1"/>
            <a:stCxn id="19466" idx="3"/>
            <a:endCxn id="19476" idx="7"/>
          </p:cNvCxnSpPr>
          <p:nvPr/>
        </p:nvCxnSpPr>
        <p:spPr bwMode="auto">
          <a:xfrm flipH="1">
            <a:off x="48101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73" name="Oval 16"/>
          <p:cNvSpPr>
            <a:spLocks noChangeArrowheads="1"/>
          </p:cNvSpPr>
          <p:nvPr/>
        </p:nvSpPr>
        <p:spPr bwMode="auto">
          <a:xfrm>
            <a:off x="2362200" y="3581400"/>
            <a:ext cx="457200" cy="457200"/>
          </a:xfrm>
          <a:prstGeom prst="ellipse">
            <a:avLst/>
          </a:prstGeom>
          <a:solidFill>
            <a:schemeClr val="folHlink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C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9474" name="AutoShape 17"/>
          <p:cNvCxnSpPr>
            <a:cxnSpLocks noChangeShapeType="1"/>
            <a:stCxn id="19473" idx="7"/>
            <a:endCxn id="19460" idx="3"/>
          </p:cNvCxnSpPr>
          <p:nvPr/>
        </p:nvCxnSpPr>
        <p:spPr bwMode="auto">
          <a:xfrm flipV="1">
            <a:off x="2752725" y="2828925"/>
            <a:ext cx="666750" cy="8048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5" name="AutoShape 18"/>
          <p:cNvCxnSpPr>
            <a:cxnSpLocks noChangeShapeType="1"/>
            <a:stCxn id="19462" idx="1"/>
            <a:endCxn id="19473" idx="5"/>
          </p:cNvCxnSpPr>
          <p:nvPr/>
        </p:nvCxnSpPr>
        <p:spPr bwMode="auto">
          <a:xfrm flipH="1" flipV="1">
            <a:off x="2752725" y="3986213"/>
            <a:ext cx="666750" cy="804862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76" name="Oval 19"/>
          <p:cNvSpPr>
            <a:spLocks noChangeArrowheads="1"/>
          </p:cNvSpPr>
          <p:nvPr/>
        </p:nvSpPr>
        <p:spPr bwMode="auto">
          <a:xfrm>
            <a:off x="44196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9477" name="AutoShape 20"/>
          <p:cNvCxnSpPr>
            <a:cxnSpLocks noChangeShapeType="1"/>
            <a:stCxn id="19461" idx="1"/>
            <a:endCxn id="19476" idx="5"/>
          </p:cNvCxnSpPr>
          <p:nvPr/>
        </p:nvCxnSpPr>
        <p:spPr bwMode="auto">
          <a:xfrm flipH="1" flipV="1">
            <a:off x="48101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8" name="AutoShape 21"/>
          <p:cNvCxnSpPr>
            <a:cxnSpLocks noChangeShapeType="1"/>
            <a:stCxn id="19462" idx="7"/>
            <a:endCxn id="19476" idx="3"/>
          </p:cNvCxnSpPr>
          <p:nvPr/>
        </p:nvCxnSpPr>
        <p:spPr bwMode="auto">
          <a:xfrm flipV="1">
            <a:off x="3743325" y="3971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79" name="Text Box 22"/>
          <p:cNvSpPr txBox="1">
            <a:spLocks noChangeArrowheads="1"/>
          </p:cNvSpPr>
          <p:nvPr/>
        </p:nvSpPr>
        <p:spPr bwMode="auto">
          <a:xfrm>
            <a:off x="2757488" y="3078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9480" name="Text Box 23"/>
          <p:cNvSpPr txBox="1">
            <a:spLocks noChangeArrowheads="1"/>
          </p:cNvSpPr>
          <p:nvPr/>
        </p:nvSpPr>
        <p:spPr bwMode="auto">
          <a:xfrm>
            <a:off x="4067175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9481" name="Text Box 24"/>
          <p:cNvSpPr txBox="1">
            <a:spLocks noChangeArrowheads="1"/>
          </p:cNvSpPr>
          <p:nvPr/>
        </p:nvSpPr>
        <p:spPr bwMode="auto">
          <a:xfrm>
            <a:off x="4495800" y="2438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9482" name="Text Box 25"/>
          <p:cNvSpPr txBox="1">
            <a:spLocks noChangeArrowheads="1"/>
          </p:cNvSpPr>
          <p:nvPr/>
        </p:nvSpPr>
        <p:spPr bwMode="auto">
          <a:xfrm>
            <a:off x="5973763" y="3063875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19483" name="Text Box 26"/>
          <p:cNvSpPr txBox="1">
            <a:spLocks noChangeArrowheads="1"/>
          </p:cNvSpPr>
          <p:nvPr/>
        </p:nvSpPr>
        <p:spPr bwMode="auto">
          <a:xfrm>
            <a:off x="4922838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9484" name="Text Box 27"/>
          <p:cNvSpPr txBox="1">
            <a:spLocks noChangeArrowheads="1"/>
          </p:cNvSpPr>
          <p:nvPr/>
        </p:nvSpPr>
        <p:spPr bwMode="auto">
          <a:xfrm>
            <a:off x="6172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9485" name="Text Box 28"/>
          <p:cNvSpPr txBox="1">
            <a:spLocks noChangeArrowheads="1"/>
          </p:cNvSpPr>
          <p:nvPr/>
        </p:nvSpPr>
        <p:spPr bwMode="auto">
          <a:xfrm>
            <a:off x="51816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9486" name="Text Box 29"/>
          <p:cNvSpPr txBox="1">
            <a:spLocks noChangeArrowheads="1"/>
          </p:cNvSpPr>
          <p:nvPr/>
        </p:nvSpPr>
        <p:spPr bwMode="auto">
          <a:xfrm>
            <a:off x="54864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9487" name="Text Box 30"/>
          <p:cNvSpPr txBox="1">
            <a:spLocks noChangeArrowheads="1"/>
          </p:cNvSpPr>
          <p:nvPr/>
        </p:nvSpPr>
        <p:spPr bwMode="auto">
          <a:xfrm>
            <a:off x="34290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9488" name="Text Box 31"/>
          <p:cNvSpPr txBox="1">
            <a:spLocks noChangeArrowheads="1"/>
          </p:cNvSpPr>
          <p:nvPr/>
        </p:nvSpPr>
        <p:spPr bwMode="auto">
          <a:xfrm>
            <a:off x="3886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19489" name="Text Box 32"/>
          <p:cNvSpPr txBox="1">
            <a:spLocks noChangeArrowheads="1"/>
          </p:cNvSpPr>
          <p:nvPr/>
        </p:nvSpPr>
        <p:spPr bwMode="auto">
          <a:xfrm>
            <a:off x="28194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9490" name="Text Box 33"/>
          <p:cNvSpPr txBox="1">
            <a:spLocks noChangeArrowheads="1"/>
          </p:cNvSpPr>
          <p:nvPr/>
        </p:nvSpPr>
        <p:spPr bwMode="auto">
          <a:xfrm>
            <a:off x="4572000" y="4724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9491" name="Text Box 34"/>
          <p:cNvSpPr txBox="1">
            <a:spLocks noChangeArrowheads="1"/>
          </p:cNvSpPr>
          <p:nvPr/>
        </p:nvSpPr>
        <p:spPr bwMode="auto">
          <a:xfrm>
            <a:off x="3429000" y="2027238"/>
            <a:ext cx="320675" cy="36671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9492" name="Text Box 35"/>
          <p:cNvSpPr txBox="1">
            <a:spLocks noChangeArrowheads="1"/>
          </p:cNvSpPr>
          <p:nvPr/>
        </p:nvSpPr>
        <p:spPr bwMode="auto">
          <a:xfrm>
            <a:off x="5486400" y="20574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9493" name="Text Box 36"/>
          <p:cNvSpPr txBox="1">
            <a:spLocks noChangeArrowheads="1"/>
          </p:cNvSpPr>
          <p:nvPr/>
        </p:nvSpPr>
        <p:spPr bwMode="auto">
          <a:xfrm>
            <a:off x="1981200" y="36671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9494" name="Text Box 37"/>
          <p:cNvSpPr txBox="1">
            <a:spLocks noChangeArrowheads="1"/>
          </p:cNvSpPr>
          <p:nvPr/>
        </p:nvSpPr>
        <p:spPr bwMode="auto">
          <a:xfrm>
            <a:off x="6858000" y="35909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9495" name="Text Box 38"/>
          <p:cNvSpPr txBox="1">
            <a:spLocks noChangeArrowheads="1"/>
          </p:cNvSpPr>
          <p:nvPr/>
        </p:nvSpPr>
        <p:spPr bwMode="auto">
          <a:xfrm>
            <a:off x="4495800" y="41243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9496" name="Line 40"/>
          <p:cNvSpPr>
            <a:spLocks noChangeShapeType="1"/>
          </p:cNvSpPr>
          <p:nvPr/>
        </p:nvSpPr>
        <p:spPr bwMode="auto">
          <a:xfrm flipH="1" flipV="1">
            <a:off x="3657600" y="2971800"/>
            <a:ext cx="68580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9497" name="Line 41"/>
          <p:cNvSpPr>
            <a:spLocks noChangeShapeType="1"/>
          </p:cNvSpPr>
          <p:nvPr/>
        </p:nvSpPr>
        <p:spPr bwMode="auto">
          <a:xfrm flipH="1" flipV="1">
            <a:off x="3962400" y="27432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9498" name="Line 42"/>
          <p:cNvSpPr>
            <a:spLocks noChangeShapeType="1"/>
          </p:cNvSpPr>
          <p:nvPr/>
        </p:nvSpPr>
        <p:spPr bwMode="auto">
          <a:xfrm flipH="1" flipV="1">
            <a:off x="4876800" y="39624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9499" name="Line 43"/>
          <p:cNvSpPr>
            <a:spLocks noChangeShapeType="1"/>
          </p:cNvSpPr>
          <p:nvPr/>
        </p:nvSpPr>
        <p:spPr bwMode="auto">
          <a:xfrm flipH="1" flipV="1">
            <a:off x="4800600" y="4114800"/>
            <a:ext cx="53340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9500" name="Line 44"/>
          <p:cNvSpPr>
            <a:spLocks noChangeShapeType="1"/>
          </p:cNvSpPr>
          <p:nvPr/>
        </p:nvSpPr>
        <p:spPr bwMode="auto">
          <a:xfrm flipH="1" flipV="1">
            <a:off x="2971800" y="4038600"/>
            <a:ext cx="533400" cy="609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9501" name="Line 45"/>
          <p:cNvSpPr>
            <a:spLocks noChangeShapeType="1"/>
          </p:cNvSpPr>
          <p:nvPr/>
        </p:nvSpPr>
        <p:spPr bwMode="auto">
          <a:xfrm flipV="1">
            <a:off x="2895600" y="3962400"/>
            <a:ext cx="1447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9502" name="Text Box 46"/>
          <p:cNvSpPr txBox="1">
            <a:spLocks noChangeArrowheads="1"/>
          </p:cNvSpPr>
          <p:nvPr/>
        </p:nvSpPr>
        <p:spPr bwMode="auto">
          <a:xfrm>
            <a:off x="3429000" y="5257800"/>
            <a:ext cx="336550" cy="382588"/>
          </a:xfrm>
          <a:prstGeom prst="rect">
            <a:avLst/>
          </a:prstGeom>
          <a:solidFill>
            <a:srgbClr val="FFFFCC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8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9503" name="Text Box 47"/>
          <p:cNvSpPr txBox="1">
            <a:spLocks noChangeArrowheads="1"/>
          </p:cNvSpPr>
          <p:nvPr/>
        </p:nvSpPr>
        <p:spPr bwMode="auto">
          <a:xfrm>
            <a:off x="5486400" y="52578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5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9504" name="Text Box 42"/>
          <p:cNvSpPr txBox="1">
            <a:spLocks noChangeArrowheads="1"/>
          </p:cNvSpPr>
          <p:nvPr/>
        </p:nvSpPr>
        <p:spPr bwMode="auto">
          <a:xfrm>
            <a:off x="1016000" y="1481138"/>
            <a:ext cx="6805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Pick vertex List with minimum distance (C) and update neighbors</a:t>
            </a:r>
          </a:p>
        </p:txBody>
      </p:sp>
      <p:sp>
        <p:nvSpPr>
          <p:cNvPr id="19505" name="Text Box 49"/>
          <p:cNvSpPr txBox="1">
            <a:spLocks noChangeArrowheads="1"/>
          </p:cNvSpPr>
          <p:nvPr/>
        </p:nvSpPr>
        <p:spPr bwMode="auto">
          <a:xfrm>
            <a:off x="304800" y="4724400"/>
            <a:ext cx="2728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Distance(F) = 3 + 5 = 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F0B06CE-D7F3-4796-80A3-12A0EFEEE2BB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  <a:ea typeface="ＭＳ Ｐゴシック" panose="020B0600070205080204" pitchFamily="34" charset="-128"/>
              </a:rPr>
              <a:t>Example: Continued...</a:t>
            </a:r>
            <a:endParaRPr lang="en-US" altLang="en-US">
              <a:solidFill>
                <a:srgbClr val="FF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20484" name="Oval 3"/>
          <p:cNvSpPr>
            <a:spLocks noChangeArrowheads="1"/>
          </p:cNvSpPr>
          <p:nvPr/>
        </p:nvSpPr>
        <p:spPr bwMode="auto">
          <a:xfrm>
            <a:off x="33528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A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0485" name="Oval 4"/>
          <p:cNvSpPr>
            <a:spLocks noChangeArrowheads="1"/>
          </p:cNvSpPr>
          <p:nvPr/>
        </p:nvSpPr>
        <p:spPr bwMode="auto">
          <a:xfrm>
            <a:off x="5410200" y="4724400"/>
            <a:ext cx="457200" cy="457200"/>
          </a:xfrm>
          <a:prstGeom prst="ellipse">
            <a:avLst/>
          </a:prstGeom>
          <a:solidFill>
            <a:schemeClr val="folHlink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G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0486" name="Oval 5"/>
          <p:cNvSpPr>
            <a:spLocks noChangeArrowheads="1"/>
          </p:cNvSpPr>
          <p:nvPr/>
        </p:nvSpPr>
        <p:spPr bwMode="auto">
          <a:xfrm>
            <a:off x="33528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F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0487" name="AutoShape 6"/>
          <p:cNvCxnSpPr>
            <a:cxnSpLocks noChangeShapeType="1"/>
            <a:stCxn id="20485" idx="2"/>
            <a:endCxn id="20486" idx="6"/>
          </p:cNvCxnSpPr>
          <p:nvPr/>
        </p:nvCxnSpPr>
        <p:spPr bwMode="auto">
          <a:xfrm flipH="1">
            <a:off x="3810000" y="4953000"/>
            <a:ext cx="1585913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88" name="AutoShape 7"/>
          <p:cNvCxnSpPr>
            <a:cxnSpLocks noChangeShapeType="1"/>
            <a:stCxn id="20500" idx="2"/>
            <a:endCxn id="20497" idx="6"/>
          </p:cNvCxnSpPr>
          <p:nvPr/>
        </p:nvCxnSpPr>
        <p:spPr bwMode="auto">
          <a:xfrm flipH="1">
            <a:off x="2819400" y="3810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89" name="AutoShape 8"/>
          <p:cNvCxnSpPr>
            <a:cxnSpLocks noChangeShapeType="1"/>
            <a:stCxn id="20484" idx="6"/>
            <a:endCxn id="20490" idx="2"/>
          </p:cNvCxnSpPr>
          <p:nvPr/>
        </p:nvCxnSpPr>
        <p:spPr bwMode="auto">
          <a:xfrm>
            <a:off x="3810000" y="2667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490" name="Oval 9"/>
          <p:cNvSpPr>
            <a:spLocks noChangeArrowheads="1"/>
          </p:cNvSpPr>
          <p:nvPr/>
        </p:nvSpPr>
        <p:spPr bwMode="auto">
          <a:xfrm>
            <a:off x="54102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B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0491" name="Oval 10"/>
          <p:cNvSpPr>
            <a:spLocks noChangeArrowheads="1"/>
          </p:cNvSpPr>
          <p:nvPr/>
        </p:nvSpPr>
        <p:spPr bwMode="auto">
          <a:xfrm>
            <a:off x="63246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E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0492" name="AutoShape 11"/>
          <p:cNvCxnSpPr>
            <a:cxnSpLocks noChangeShapeType="1"/>
            <a:stCxn id="20491" idx="2"/>
            <a:endCxn id="20500" idx="6"/>
          </p:cNvCxnSpPr>
          <p:nvPr/>
        </p:nvCxnSpPr>
        <p:spPr bwMode="auto">
          <a:xfrm flipH="1">
            <a:off x="4876800" y="3810000"/>
            <a:ext cx="14478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3" name="AutoShape 12"/>
          <p:cNvCxnSpPr>
            <a:cxnSpLocks noChangeShapeType="1"/>
            <a:stCxn id="20491" idx="1"/>
            <a:endCxn id="20490" idx="5"/>
          </p:cNvCxnSpPr>
          <p:nvPr/>
        </p:nvCxnSpPr>
        <p:spPr bwMode="auto">
          <a:xfrm flipH="1" flipV="1">
            <a:off x="5800725" y="2828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4" name="AutoShape 13"/>
          <p:cNvCxnSpPr>
            <a:cxnSpLocks noChangeShapeType="1"/>
            <a:stCxn id="20485" idx="7"/>
            <a:endCxn id="20491" idx="3"/>
          </p:cNvCxnSpPr>
          <p:nvPr/>
        </p:nvCxnSpPr>
        <p:spPr bwMode="auto">
          <a:xfrm flipV="1">
            <a:off x="5800725" y="3971925"/>
            <a:ext cx="590550" cy="8048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5" name="AutoShape 14"/>
          <p:cNvCxnSpPr>
            <a:cxnSpLocks noChangeShapeType="1"/>
            <a:stCxn id="20484" idx="5"/>
            <a:endCxn id="20500" idx="1"/>
          </p:cNvCxnSpPr>
          <p:nvPr/>
        </p:nvCxnSpPr>
        <p:spPr bwMode="auto">
          <a:xfrm>
            <a:off x="3743325" y="2828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6" name="AutoShape 15"/>
          <p:cNvCxnSpPr>
            <a:cxnSpLocks noChangeShapeType="1"/>
            <a:stCxn id="20490" idx="3"/>
            <a:endCxn id="20500" idx="7"/>
          </p:cNvCxnSpPr>
          <p:nvPr/>
        </p:nvCxnSpPr>
        <p:spPr bwMode="auto">
          <a:xfrm flipH="1">
            <a:off x="48101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497" name="Oval 16"/>
          <p:cNvSpPr>
            <a:spLocks noChangeArrowheads="1"/>
          </p:cNvSpPr>
          <p:nvPr/>
        </p:nvSpPr>
        <p:spPr bwMode="auto">
          <a:xfrm>
            <a:off x="23622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C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0498" name="AutoShape 17"/>
          <p:cNvCxnSpPr>
            <a:cxnSpLocks noChangeShapeType="1"/>
            <a:stCxn id="20497" idx="7"/>
            <a:endCxn id="20484" idx="3"/>
          </p:cNvCxnSpPr>
          <p:nvPr/>
        </p:nvCxnSpPr>
        <p:spPr bwMode="auto">
          <a:xfrm flipV="1">
            <a:off x="27527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9" name="AutoShape 18"/>
          <p:cNvCxnSpPr>
            <a:cxnSpLocks noChangeShapeType="1"/>
            <a:stCxn id="20486" idx="1"/>
            <a:endCxn id="20497" idx="5"/>
          </p:cNvCxnSpPr>
          <p:nvPr/>
        </p:nvCxnSpPr>
        <p:spPr bwMode="auto">
          <a:xfrm flipH="1" flipV="1">
            <a:off x="27527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00" name="Oval 19"/>
          <p:cNvSpPr>
            <a:spLocks noChangeArrowheads="1"/>
          </p:cNvSpPr>
          <p:nvPr/>
        </p:nvSpPr>
        <p:spPr bwMode="auto">
          <a:xfrm>
            <a:off x="44196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0501" name="AutoShape 20"/>
          <p:cNvCxnSpPr>
            <a:cxnSpLocks noChangeShapeType="1"/>
            <a:stCxn id="20485" idx="1"/>
            <a:endCxn id="20500" idx="5"/>
          </p:cNvCxnSpPr>
          <p:nvPr/>
        </p:nvCxnSpPr>
        <p:spPr bwMode="auto">
          <a:xfrm flipH="1" flipV="1">
            <a:off x="4810125" y="3971925"/>
            <a:ext cx="666750" cy="8048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02" name="AutoShape 21"/>
          <p:cNvCxnSpPr>
            <a:cxnSpLocks noChangeShapeType="1"/>
            <a:stCxn id="20486" idx="7"/>
            <a:endCxn id="20500" idx="3"/>
          </p:cNvCxnSpPr>
          <p:nvPr/>
        </p:nvCxnSpPr>
        <p:spPr bwMode="auto">
          <a:xfrm flipV="1">
            <a:off x="3743325" y="3971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03" name="Text Box 22"/>
          <p:cNvSpPr txBox="1">
            <a:spLocks noChangeArrowheads="1"/>
          </p:cNvSpPr>
          <p:nvPr/>
        </p:nvSpPr>
        <p:spPr bwMode="auto">
          <a:xfrm>
            <a:off x="2757488" y="3078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20504" name="Text Box 23"/>
          <p:cNvSpPr txBox="1">
            <a:spLocks noChangeArrowheads="1"/>
          </p:cNvSpPr>
          <p:nvPr/>
        </p:nvSpPr>
        <p:spPr bwMode="auto">
          <a:xfrm>
            <a:off x="4067175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0505" name="Text Box 24"/>
          <p:cNvSpPr txBox="1">
            <a:spLocks noChangeArrowheads="1"/>
          </p:cNvSpPr>
          <p:nvPr/>
        </p:nvSpPr>
        <p:spPr bwMode="auto">
          <a:xfrm>
            <a:off x="4495800" y="2438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0506" name="Text Box 25"/>
          <p:cNvSpPr txBox="1">
            <a:spLocks noChangeArrowheads="1"/>
          </p:cNvSpPr>
          <p:nvPr/>
        </p:nvSpPr>
        <p:spPr bwMode="auto">
          <a:xfrm>
            <a:off x="5973763" y="3063875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20507" name="Text Box 26"/>
          <p:cNvSpPr txBox="1">
            <a:spLocks noChangeArrowheads="1"/>
          </p:cNvSpPr>
          <p:nvPr/>
        </p:nvSpPr>
        <p:spPr bwMode="auto">
          <a:xfrm>
            <a:off x="4922838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0508" name="Text Box 27"/>
          <p:cNvSpPr txBox="1">
            <a:spLocks noChangeArrowheads="1"/>
          </p:cNvSpPr>
          <p:nvPr/>
        </p:nvSpPr>
        <p:spPr bwMode="auto">
          <a:xfrm>
            <a:off x="6172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0509" name="Text Box 28"/>
          <p:cNvSpPr txBox="1">
            <a:spLocks noChangeArrowheads="1"/>
          </p:cNvSpPr>
          <p:nvPr/>
        </p:nvSpPr>
        <p:spPr bwMode="auto">
          <a:xfrm>
            <a:off x="51816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20510" name="Text Box 29"/>
          <p:cNvSpPr txBox="1">
            <a:spLocks noChangeArrowheads="1"/>
          </p:cNvSpPr>
          <p:nvPr/>
        </p:nvSpPr>
        <p:spPr bwMode="auto">
          <a:xfrm>
            <a:off x="54864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0511" name="Text Box 30"/>
          <p:cNvSpPr txBox="1">
            <a:spLocks noChangeArrowheads="1"/>
          </p:cNvSpPr>
          <p:nvPr/>
        </p:nvSpPr>
        <p:spPr bwMode="auto">
          <a:xfrm>
            <a:off x="34290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0512" name="Text Box 31"/>
          <p:cNvSpPr txBox="1">
            <a:spLocks noChangeArrowheads="1"/>
          </p:cNvSpPr>
          <p:nvPr/>
        </p:nvSpPr>
        <p:spPr bwMode="auto">
          <a:xfrm>
            <a:off x="3886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20513" name="Text Box 32"/>
          <p:cNvSpPr txBox="1">
            <a:spLocks noChangeArrowheads="1"/>
          </p:cNvSpPr>
          <p:nvPr/>
        </p:nvSpPr>
        <p:spPr bwMode="auto">
          <a:xfrm>
            <a:off x="28194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0514" name="Text Box 33"/>
          <p:cNvSpPr txBox="1">
            <a:spLocks noChangeArrowheads="1"/>
          </p:cNvSpPr>
          <p:nvPr/>
        </p:nvSpPr>
        <p:spPr bwMode="auto">
          <a:xfrm>
            <a:off x="4572000" y="4724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0515" name="Text Box 34"/>
          <p:cNvSpPr txBox="1">
            <a:spLocks noChangeArrowheads="1"/>
          </p:cNvSpPr>
          <p:nvPr/>
        </p:nvSpPr>
        <p:spPr bwMode="auto">
          <a:xfrm>
            <a:off x="3429000" y="2027238"/>
            <a:ext cx="320675" cy="36671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0516" name="Text Box 35"/>
          <p:cNvSpPr txBox="1">
            <a:spLocks noChangeArrowheads="1"/>
          </p:cNvSpPr>
          <p:nvPr/>
        </p:nvSpPr>
        <p:spPr bwMode="auto">
          <a:xfrm>
            <a:off x="5486400" y="20574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0517" name="Text Box 36"/>
          <p:cNvSpPr txBox="1">
            <a:spLocks noChangeArrowheads="1"/>
          </p:cNvSpPr>
          <p:nvPr/>
        </p:nvSpPr>
        <p:spPr bwMode="auto">
          <a:xfrm>
            <a:off x="1981200" y="36671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0518" name="Text Box 37"/>
          <p:cNvSpPr txBox="1">
            <a:spLocks noChangeArrowheads="1"/>
          </p:cNvSpPr>
          <p:nvPr/>
        </p:nvSpPr>
        <p:spPr bwMode="auto">
          <a:xfrm>
            <a:off x="6858000" y="35909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0519" name="Text Box 38"/>
          <p:cNvSpPr txBox="1">
            <a:spLocks noChangeArrowheads="1"/>
          </p:cNvSpPr>
          <p:nvPr/>
        </p:nvSpPr>
        <p:spPr bwMode="auto">
          <a:xfrm>
            <a:off x="4495800" y="41243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0520" name="Line 40"/>
          <p:cNvSpPr>
            <a:spLocks noChangeShapeType="1"/>
          </p:cNvSpPr>
          <p:nvPr/>
        </p:nvSpPr>
        <p:spPr bwMode="auto">
          <a:xfrm flipH="1" flipV="1">
            <a:off x="3657600" y="2971800"/>
            <a:ext cx="68580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0521" name="Line 41"/>
          <p:cNvSpPr>
            <a:spLocks noChangeShapeType="1"/>
          </p:cNvSpPr>
          <p:nvPr/>
        </p:nvSpPr>
        <p:spPr bwMode="auto">
          <a:xfrm flipH="1" flipV="1">
            <a:off x="3962400" y="27432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0522" name="Line 42"/>
          <p:cNvSpPr>
            <a:spLocks noChangeShapeType="1"/>
          </p:cNvSpPr>
          <p:nvPr/>
        </p:nvSpPr>
        <p:spPr bwMode="auto">
          <a:xfrm flipH="1" flipV="1">
            <a:off x="4876800" y="39624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0523" name="Line 43"/>
          <p:cNvSpPr>
            <a:spLocks noChangeShapeType="1"/>
          </p:cNvSpPr>
          <p:nvPr/>
        </p:nvSpPr>
        <p:spPr bwMode="auto">
          <a:xfrm flipH="1" flipV="1">
            <a:off x="4800600" y="4114800"/>
            <a:ext cx="53340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0524" name="Line 44"/>
          <p:cNvSpPr>
            <a:spLocks noChangeShapeType="1"/>
          </p:cNvSpPr>
          <p:nvPr/>
        </p:nvSpPr>
        <p:spPr bwMode="auto">
          <a:xfrm flipV="1">
            <a:off x="3962400" y="51054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0525" name="Line 45"/>
          <p:cNvSpPr>
            <a:spLocks noChangeShapeType="1"/>
          </p:cNvSpPr>
          <p:nvPr/>
        </p:nvSpPr>
        <p:spPr bwMode="auto">
          <a:xfrm flipV="1">
            <a:off x="2895600" y="3962400"/>
            <a:ext cx="1447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0526" name="Text Box 46"/>
          <p:cNvSpPr txBox="1">
            <a:spLocks noChangeArrowheads="1"/>
          </p:cNvSpPr>
          <p:nvPr/>
        </p:nvSpPr>
        <p:spPr bwMode="auto">
          <a:xfrm>
            <a:off x="3429000" y="5257800"/>
            <a:ext cx="336550" cy="382588"/>
          </a:xfrm>
          <a:prstGeom prst="rect">
            <a:avLst/>
          </a:prstGeom>
          <a:solidFill>
            <a:srgbClr val="FFFFCC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6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0527" name="Text Box 47"/>
          <p:cNvSpPr txBox="1">
            <a:spLocks noChangeArrowheads="1"/>
          </p:cNvSpPr>
          <p:nvPr/>
        </p:nvSpPr>
        <p:spPr bwMode="auto">
          <a:xfrm>
            <a:off x="5486400" y="52578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5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0528" name="Text Box 49"/>
          <p:cNvSpPr txBox="1">
            <a:spLocks noChangeArrowheads="1"/>
          </p:cNvSpPr>
          <p:nvPr/>
        </p:nvSpPr>
        <p:spPr bwMode="auto">
          <a:xfrm>
            <a:off x="228600" y="5581650"/>
            <a:ext cx="3581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Distance(F) = min (8, 5+1) = 6</a:t>
            </a:r>
          </a:p>
        </p:txBody>
      </p:sp>
      <p:sp>
        <p:nvSpPr>
          <p:cNvPr id="20529" name="Text Box 50"/>
          <p:cNvSpPr txBox="1">
            <a:spLocks noChangeArrowheads="1"/>
          </p:cNvSpPr>
          <p:nvPr/>
        </p:nvSpPr>
        <p:spPr bwMode="auto">
          <a:xfrm>
            <a:off x="838200" y="5029200"/>
            <a:ext cx="2057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Previous distance</a:t>
            </a:r>
          </a:p>
        </p:txBody>
      </p:sp>
      <p:sp>
        <p:nvSpPr>
          <p:cNvPr id="20530" name="Line 51"/>
          <p:cNvSpPr>
            <a:spLocks noChangeShapeType="1"/>
          </p:cNvSpPr>
          <p:nvPr/>
        </p:nvSpPr>
        <p:spPr bwMode="auto">
          <a:xfrm flipH="1">
            <a:off x="2336800" y="5410200"/>
            <a:ext cx="76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0531" name="Text Box 42"/>
          <p:cNvSpPr txBox="1">
            <a:spLocks noChangeArrowheads="1"/>
          </p:cNvSpPr>
          <p:nvPr/>
        </p:nvSpPr>
        <p:spPr bwMode="auto">
          <a:xfrm>
            <a:off x="1016000" y="1481138"/>
            <a:ext cx="6805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Pick vertex List with minimum distance (G) and update neighbors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715BBD4-91AB-4374-B6AF-9435FE2CA3F1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  <a:ea typeface="ＭＳ Ｐゴシック" panose="020B0600070205080204" pitchFamily="34" charset="-128"/>
              </a:rPr>
              <a:t>Example (end)</a:t>
            </a:r>
          </a:p>
        </p:txBody>
      </p:sp>
      <p:sp>
        <p:nvSpPr>
          <p:cNvPr id="21508" name="Oval 3"/>
          <p:cNvSpPr>
            <a:spLocks noChangeArrowheads="1"/>
          </p:cNvSpPr>
          <p:nvPr/>
        </p:nvSpPr>
        <p:spPr bwMode="auto">
          <a:xfrm>
            <a:off x="33528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A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1509" name="Oval 4"/>
          <p:cNvSpPr>
            <a:spLocks noChangeArrowheads="1"/>
          </p:cNvSpPr>
          <p:nvPr/>
        </p:nvSpPr>
        <p:spPr bwMode="auto">
          <a:xfrm>
            <a:off x="5410200" y="4724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G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1510" name="Oval 5"/>
          <p:cNvSpPr>
            <a:spLocks noChangeArrowheads="1"/>
          </p:cNvSpPr>
          <p:nvPr/>
        </p:nvSpPr>
        <p:spPr bwMode="auto">
          <a:xfrm>
            <a:off x="3352800" y="4724400"/>
            <a:ext cx="457200" cy="457200"/>
          </a:xfrm>
          <a:prstGeom prst="ellipse">
            <a:avLst/>
          </a:prstGeom>
          <a:solidFill>
            <a:schemeClr val="folHlink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F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1511" name="AutoShape 6"/>
          <p:cNvCxnSpPr>
            <a:cxnSpLocks noChangeShapeType="1"/>
            <a:stCxn id="21509" idx="2"/>
            <a:endCxn id="21510" idx="6"/>
          </p:cNvCxnSpPr>
          <p:nvPr/>
        </p:nvCxnSpPr>
        <p:spPr bwMode="auto">
          <a:xfrm flipH="1">
            <a:off x="3824288" y="4953000"/>
            <a:ext cx="1585912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2" name="AutoShape 7"/>
          <p:cNvCxnSpPr>
            <a:cxnSpLocks noChangeShapeType="1"/>
            <a:stCxn id="21524" idx="2"/>
            <a:endCxn id="21521" idx="6"/>
          </p:cNvCxnSpPr>
          <p:nvPr/>
        </p:nvCxnSpPr>
        <p:spPr bwMode="auto">
          <a:xfrm flipH="1">
            <a:off x="2819400" y="3810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3" name="AutoShape 8"/>
          <p:cNvCxnSpPr>
            <a:cxnSpLocks noChangeShapeType="1"/>
            <a:stCxn id="21508" idx="6"/>
            <a:endCxn id="21514" idx="2"/>
          </p:cNvCxnSpPr>
          <p:nvPr/>
        </p:nvCxnSpPr>
        <p:spPr bwMode="auto">
          <a:xfrm>
            <a:off x="3810000" y="2667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14" name="Oval 9"/>
          <p:cNvSpPr>
            <a:spLocks noChangeArrowheads="1"/>
          </p:cNvSpPr>
          <p:nvPr/>
        </p:nvSpPr>
        <p:spPr bwMode="auto">
          <a:xfrm>
            <a:off x="54102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B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1515" name="Oval 10"/>
          <p:cNvSpPr>
            <a:spLocks noChangeArrowheads="1"/>
          </p:cNvSpPr>
          <p:nvPr/>
        </p:nvSpPr>
        <p:spPr bwMode="auto">
          <a:xfrm>
            <a:off x="63246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E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1516" name="AutoShape 11"/>
          <p:cNvCxnSpPr>
            <a:cxnSpLocks noChangeShapeType="1"/>
            <a:stCxn id="21515" idx="2"/>
            <a:endCxn id="21524" idx="6"/>
          </p:cNvCxnSpPr>
          <p:nvPr/>
        </p:nvCxnSpPr>
        <p:spPr bwMode="auto">
          <a:xfrm flipH="1">
            <a:off x="4876800" y="3810000"/>
            <a:ext cx="14478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7" name="AutoShape 12"/>
          <p:cNvCxnSpPr>
            <a:cxnSpLocks noChangeShapeType="1"/>
            <a:stCxn id="21515" idx="1"/>
            <a:endCxn id="21514" idx="5"/>
          </p:cNvCxnSpPr>
          <p:nvPr/>
        </p:nvCxnSpPr>
        <p:spPr bwMode="auto">
          <a:xfrm flipH="1" flipV="1">
            <a:off x="5800725" y="2828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8" name="AutoShape 13"/>
          <p:cNvCxnSpPr>
            <a:cxnSpLocks noChangeShapeType="1"/>
            <a:stCxn id="21509" idx="7"/>
            <a:endCxn id="21515" idx="3"/>
          </p:cNvCxnSpPr>
          <p:nvPr/>
        </p:nvCxnSpPr>
        <p:spPr bwMode="auto">
          <a:xfrm flipV="1">
            <a:off x="5800725" y="3971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9" name="AutoShape 14"/>
          <p:cNvCxnSpPr>
            <a:cxnSpLocks noChangeShapeType="1"/>
            <a:stCxn id="21508" idx="5"/>
            <a:endCxn id="21524" idx="1"/>
          </p:cNvCxnSpPr>
          <p:nvPr/>
        </p:nvCxnSpPr>
        <p:spPr bwMode="auto">
          <a:xfrm>
            <a:off x="3743325" y="2828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0" name="AutoShape 15"/>
          <p:cNvCxnSpPr>
            <a:cxnSpLocks noChangeShapeType="1"/>
            <a:stCxn id="21514" idx="3"/>
            <a:endCxn id="21524" idx="7"/>
          </p:cNvCxnSpPr>
          <p:nvPr/>
        </p:nvCxnSpPr>
        <p:spPr bwMode="auto">
          <a:xfrm flipH="1">
            <a:off x="48101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21" name="Oval 16"/>
          <p:cNvSpPr>
            <a:spLocks noChangeArrowheads="1"/>
          </p:cNvSpPr>
          <p:nvPr/>
        </p:nvSpPr>
        <p:spPr bwMode="auto">
          <a:xfrm>
            <a:off x="23622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C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1522" name="AutoShape 17"/>
          <p:cNvCxnSpPr>
            <a:cxnSpLocks noChangeShapeType="1"/>
            <a:stCxn id="21521" idx="7"/>
            <a:endCxn id="21508" idx="3"/>
          </p:cNvCxnSpPr>
          <p:nvPr/>
        </p:nvCxnSpPr>
        <p:spPr bwMode="auto">
          <a:xfrm flipV="1">
            <a:off x="27527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3" name="AutoShape 18"/>
          <p:cNvCxnSpPr>
            <a:cxnSpLocks noChangeShapeType="1"/>
            <a:stCxn id="21510" idx="1"/>
            <a:endCxn id="21521" idx="5"/>
          </p:cNvCxnSpPr>
          <p:nvPr/>
        </p:nvCxnSpPr>
        <p:spPr bwMode="auto">
          <a:xfrm flipH="1" flipV="1">
            <a:off x="2752725" y="3971925"/>
            <a:ext cx="666750" cy="8048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24" name="Oval 19"/>
          <p:cNvSpPr>
            <a:spLocks noChangeArrowheads="1"/>
          </p:cNvSpPr>
          <p:nvPr/>
        </p:nvSpPr>
        <p:spPr bwMode="auto">
          <a:xfrm>
            <a:off x="44196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21525" name="AutoShape 20"/>
          <p:cNvCxnSpPr>
            <a:cxnSpLocks noChangeShapeType="1"/>
            <a:stCxn id="21509" idx="1"/>
            <a:endCxn id="21524" idx="5"/>
          </p:cNvCxnSpPr>
          <p:nvPr/>
        </p:nvCxnSpPr>
        <p:spPr bwMode="auto">
          <a:xfrm flipH="1" flipV="1">
            <a:off x="48101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6" name="AutoShape 21"/>
          <p:cNvCxnSpPr>
            <a:cxnSpLocks noChangeShapeType="1"/>
            <a:stCxn id="21510" idx="7"/>
            <a:endCxn id="21524" idx="3"/>
          </p:cNvCxnSpPr>
          <p:nvPr/>
        </p:nvCxnSpPr>
        <p:spPr bwMode="auto">
          <a:xfrm flipV="1">
            <a:off x="3743325" y="3971925"/>
            <a:ext cx="742950" cy="8048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27" name="Text Box 22"/>
          <p:cNvSpPr txBox="1">
            <a:spLocks noChangeArrowheads="1"/>
          </p:cNvSpPr>
          <p:nvPr/>
        </p:nvSpPr>
        <p:spPr bwMode="auto">
          <a:xfrm>
            <a:off x="2757488" y="3078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21528" name="Text Box 23"/>
          <p:cNvSpPr txBox="1">
            <a:spLocks noChangeArrowheads="1"/>
          </p:cNvSpPr>
          <p:nvPr/>
        </p:nvSpPr>
        <p:spPr bwMode="auto">
          <a:xfrm>
            <a:off x="4067175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1529" name="Text Box 24"/>
          <p:cNvSpPr txBox="1">
            <a:spLocks noChangeArrowheads="1"/>
          </p:cNvSpPr>
          <p:nvPr/>
        </p:nvSpPr>
        <p:spPr bwMode="auto">
          <a:xfrm>
            <a:off x="4495800" y="2438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1530" name="Text Box 25"/>
          <p:cNvSpPr txBox="1">
            <a:spLocks noChangeArrowheads="1"/>
          </p:cNvSpPr>
          <p:nvPr/>
        </p:nvSpPr>
        <p:spPr bwMode="auto">
          <a:xfrm>
            <a:off x="5973763" y="3063875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21531" name="Text Box 26"/>
          <p:cNvSpPr txBox="1">
            <a:spLocks noChangeArrowheads="1"/>
          </p:cNvSpPr>
          <p:nvPr/>
        </p:nvSpPr>
        <p:spPr bwMode="auto">
          <a:xfrm>
            <a:off x="4922838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1532" name="Text Box 27"/>
          <p:cNvSpPr txBox="1">
            <a:spLocks noChangeArrowheads="1"/>
          </p:cNvSpPr>
          <p:nvPr/>
        </p:nvSpPr>
        <p:spPr bwMode="auto">
          <a:xfrm>
            <a:off x="6172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1533" name="Text Box 28"/>
          <p:cNvSpPr txBox="1">
            <a:spLocks noChangeArrowheads="1"/>
          </p:cNvSpPr>
          <p:nvPr/>
        </p:nvSpPr>
        <p:spPr bwMode="auto">
          <a:xfrm>
            <a:off x="51816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21534" name="Text Box 29"/>
          <p:cNvSpPr txBox="1">
            <a:spLocks noChangeArrowheads="1"/>
          </p:cNvSpPr>
          <p:nvPr/>
        </p:nvSpPr>
        <p:spPr bwMode="auto">
          <a:xfrm>
            <a:off x="54864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1535" name="Text Box 30"/>
          <p:cNvSpPr txBox="1">
            <a:spLocks noChangeArrowheads="1"/>
          </p:cNvSpPr>
          <p:nvPr/>
        </p:nvSpPr>
        <p:spPr bwMode="auto">
          <a:xfrm>
            <a:off x="34290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1536" name="Text Box 31"/>
          <p:cNvSpPr txBox="1">
            <a:spLocks noChangeArrowheads="1"/>
          </p:cNvSpPr>
          <p:nvPr/>
        </p:nvSpPr>
        <p:spPr bwMode="auto">
          <a:xfrm>
            <a:off x="3886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21537" name="Text Box 32"/>
          <p:cNvSpPr txBox="1">
            <a:spLocks noChangeArrowheads="1"/>
          </p:cNvSpPr>
          <p:nvPr/>
        </p:nvSpPr>
        <p:spPr bwMode="auto">
          <a:xfrm>
            <a:off x="28194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1538" name="Text Box 33"/>
          <p:cNvSpPr txBox="1">
            <a:spLocks noChangeArrowheads="1"/>
          </p:cNvSpPr>
          <p:nvPr/>
        </p:nvSpPr>
        <p:spPr bwMode="auto">
          <a:xfrm>
            <a:off x="4572000" y="4724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1539" name="Text Box 34"/>
          <p:cNvSpPr txBox="1">
            <a:spLocks noChangeArrowheads="1"/>
          </p:cNvSpPr>
          <p:nvPr/>
        </p:nvSpPr>
        <p:spPr bwMode="auto">
          <a:xfrm>
            <a:off x="3429000" y="2027238"/>
            <a:ext cx="320675" cy="36671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1540" name="Text Box 35"/>
          <p:cNvSpPr txBox="1">
            <a:spLocks noChangeArrowheads="1"/>
          </p:cNvSpPr>
          <p:nvPr/>
        </p:nvSpPr>
        <p:spPr bwMode="auto">
          <a:xfrm>
            <a:off x="5486400" y="20574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1541" name="Text Box 36"/>
          <p:cNvSpPr txBox="1">
            <a:spLocks noChangeArrowheads="1"/>
          </p:cNvSpPr>
          <p:nvPr/>
        </p:nvSpPr>
        <p:spPr bwMode="auto">
          <a:xfrm>
            <a:off x="1981200" y="36671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1542" name="Text Box 37"/>
          <p:cNvSpPr txBox="1">
            <a:spLocks noChangeArrowheads="1"/>
          </p:cNvSpPr>
          <p:nvPr/>
        </p:nvSpPr>
        <p:spPr bwMode="auto">
          <a:xfrm>
            <a:off x="6858000" y="35909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1543" name="Text Box 38"/>
          <p:cNvSpPr txBox="1">
            <a:spLocks noChangeArrowheads="1"/>
          </p:cNvSpPr>
          <p:nvPr/>
        </p:nvSpPr>
        <p:spPr bwMode="auto">
          <a:xfrm>
            <a:off x="4495800" y="41243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1544" name="Text Box 39"/>
          <p:cNvSpPr txBox="1">
            <a:spLocks noChangeArrowheads="1"/>
          </p:cNvSpPr>
          <p:nvPr/>
        </p:nvSpPr>
        <p:spPr bwMode="auto">
          <a:xfrm>
            <a:off x="1660525" y="5649913"/>
            <a:ext cx="71231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Pick vertex not in S with lowest cost (F) and update neighbors</a:t>
            </a:r>
          </a:p>
        </p:txBody>
      </p:sp>
      <p:sp>
        <p:nvSpPr>
          <p:cNvPr id="21545" name="Line 40"/>
          <p:cNvSpPr>
            <a:spLocks noChangeShapeType="1"/>
          </p:cNvSpPr>
          <p:nvPr/>
        </p:nvSpPr>
        <p:spPr bwMode="auto">
          <a:xfrm flipH="1" flipV="1">
            <a:off x="3657600" y="2971800"/>
            <a:ext cx="68580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1546" name="Line 41"/>
          <p:cNvSpPr>
            <a:spLocks noChangeShapeType="1"/>
          </p:cNvSpPr>
          <p:nvPr/>
        </p:nvSpPr>
        <p:spPr bwMode="auto">
          <a:xfrm flipH="1" flipV="1">
            <a:off x="3962400" y="27432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1547" name="Line 42"/>
          <p:cNvSpPr>
            <a:spLocks noChangeShapeType="1"/>
          </p:cNvSpPr>
          <p:nvPr/>
        </p:nvSpPr>
        <p:spPr bwMode="auto">
          <a:xfrm flipH="1" flipV="1">
            <a:off x="4876800" y="39624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1548" name="Line 43"/>
          <p:cNvSpPr>
            <a:spLocks noChangeShapeType="1"/>
          </p:cNvSpPr>
          <p:nvPr/>
        </p:nvSpPr>
        <p:spPr bwMode="auto">
          <a:xfrm flipH="1" flipV="1">
            <a:off x="4800600" y="4114800"/>
            <a:ext cx="53340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1549" name="Line 44"/>
          <p:cNvSpPr>
            <a:spLocks noChangeShapeType="1"/>
          </p:cNvSpPr>
          <p:nvPr/>
        </p:nvSpPr>
        <p:spPr bwMode="auto">
          <a:xfrm flipV="1">
            <a:off x="3962400" y="51054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1550" name="Line 45"/>
          <p:cNvSpPr>
            <a:spLocks noChangeShapeType="1"/>
          </p:cNvSpPr>
          <p:nvPr/>
        </p:nvSpPr>
        <p:spPr bwMode="auto">
          <a:xfrm flipV="1">
            <a:off x="2895600" y="3962400"/>
            <a:ext cx="1447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1551" name="Text Box 46"/>
          <p:cNvSpPr txBox="1">
            <a:spLocks noChangeArrowheads="1"/>
          </p:cNvSpPr>
          <p:nvPr/>
        </p:nvSpPr>
        <p:spPr bwMode="auto">
          <a:xfrm>
            <a:off x="3429000" y="52578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6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1552" name="Text Box 47"/>
          <p:cNvSpPr txBox="1">
            <a:spLocks noChangeArrowheads="1"/>
          </p:cNvSpPr>
          <p:nvPr/>
        </p:nvSpPr>
        <p:spPr bwMode="auto">
          <a:xfrm>
            <a:off x="5486400" y="52578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5</a:t>
            </a: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"/>
          <p:cNvSpPr>
            <a:spLocks noGrp="1" noChangeArrowheads="1"/>
          </p:cNvSpPr>
          <p:nvPr>
            <p:ph type="title"/>
          </p:nvPr>
        </p:nvSpPr>
        <p:spPr>
          <a:xfrm>
            <a:off x="222250" y="236538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altLang="en-US" sz="3900">
                <a:solidFill>
                  <a:srgbClr val="3B62A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Another Example</a:t>
            </a:r>
          </a:p>
        </p:txBody>
      </p:sp>
      <p:pic>
        <p:nvPicPr>
          <p:cNvPr id="2253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675" y="754063"/>
            <a:ext cx="7912100" cy="408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/>
          <p:cNvSpPr>
            <a:spLocks noGrp="1" noChangeArrowheads="1"/>
          </p:cNvSpPr>
          <p:nvPr>
            <p:ph type="title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altLang="en-US" sz="3900">
                <a:solidFill>
                  <a:srgbClr val="3B62A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Another Example</a:t>
            </a:r>
          </a:p>
        </p:txBody>
      </p:sp>
      <p:pic>
        <p:nvPicPr>
          <p:cNvPr id="2355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908050"/>
            <a:ext cx="8247063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/>
          <p:cNvSpPr>
            <a:spLocks noGrp="1" noChangeArrowheads="1"/>
          </p:cNvSpPr>
          <p:nvPr>
            <p:ph type="title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altLang="en-US" sz="3900">
                <a:solidFill>
                  <a:srgbClr val="3B62A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Another Example</a:t>
            </a:r>
          </a:p>
        </p:txBody>
      </p:sp>
      <p:pic>
        <p:nvPicPr>
          <p:cNvPr id="2457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960438"/>
            <a:ext cx="8247063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/>
          <p:cNvSpPr>
            <a:spLocks noGrp="1" noChangeArrowheads="1"/>
          </p:cNvSpPr>
          <p:nvPr>
            <p:ph type="title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altLang="en-US" sz="3900">
                <a:solidFill>
                  <a:srgbClr val="3B62A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Another Example</a:t>
            </a:r>
          </a:p>
        </p:txBody>
      </p:sp>
      <p:pic>
        <p:nvPicPr>
          <p:cNvPr id="2560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908050"/>
            <a:ext cx="8247063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/>
          <p:cNvSpPr>
            <a:spLocks noGrp="1" noChangeArrowheads="1"/>
          </p:cNvSpPr>
          <p:nvPr>
            <p:ph type="title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altLang="en-US" sz="3900">
                <a:solidFill>
                  <a:srgbClr val="3B62A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Another Example</a:t>
            </a:r>
          </a:p>
        </p:txBody>
      </p:sp>
      <p:pic>
        <p:nvPicPr>
          <p:cNvPr id="2662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908050"/>
            <a:ext cx="8247063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"/>
          <p:cNvSpPr>
            <a:spLocks noGrp="1" noChangeArrowheads="1"/>
          </p:cNvSpPr>
          <p:nvPr>
            <p:ph type="title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altLang="en-US" sz="3900">
                <a:solidFill>
                  <a:srgbClr val="3B62A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Another Example</a:t>
            </a:r>
          </a:p>
        </p:txBody>
      </p:sp>
      <p:pic>
        <p:nvPicPr>
          <p:cNvPr id="2765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263" y="1071563"/>
            <a:ext cx="8245475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/>
          <p:cNvSpPr>
            <a:spLocks noGrp="1" noChangeArrowheads="1"/>
          </p:cNvSpPr>
          <p:nvPr>
            <p:ph type="title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altLang="en-US" sz="3900">
                <a:solidFill>
                  <a:srgbClr val="3B62A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Another Example</a:t>
            </a:r>
          </a:p>
        </p:txBody>
      </p:sp>
      <p:pic>
        <p:nvPicPr>
          <p:cNvPr id="2867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13" y="1071563"/>
            <a:ext cx="8247062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6289560" y="1709640"/>
              <a:ext cx="1033560" cy="1508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84160" y="1698120"/>
                <a:ext cx="1050840" cy="174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"/>
          <p:cNvSpPr>
            <a:spLocks noGrp="1" noChangeArrowheads="1"/>
          </p:cNvSpPr>
          <p:nvPr>
            <p:ph type="title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altLang="en-US" sz="3900">
                <a:solidFill>
                  <a:srgbClr val="3B62A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Another Example</a:t>
            </a:r>
          </a:p>
        </p:txBody>
      </p:sp>
      <p:pic>
        <p:nvPicPr>
          <p:cNvPr id="2969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263" y="1071563"/>
            <a:ext cx="8245475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"/>
          <p:cNvSpPr>
            <a:spLocks noGrp="1" noChangeArrowheads="1"/>
          </p:cNvSpPr>
          <p:nvPr>
            <p:ph type="title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altLang="en-US" sz="3900">
                <a:solidFill>
                  <a:srgbClr val="3B62A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Another Example</a:t>
            </a:r>
          </a:p>
        </p:txBody>
      </p:sp>
      <p:pic>
        <p:nvPicPr>
          <p:cNvPr id="3072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263" y="1071563"/>
            <a:ext cx="8245475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5812920" y="5645520"/>
              <a:ext cx="1838160" cy="583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01760" y="5634720"/>
                <a:ext cx="1857600" cy="78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12417</TotalTime>
  <Words>1380</Words>
  <Application>Microsoft Office PowerPoint</Application>
  <PresentationFormat>On-screen Show (4:3)</PresentationFormat>
  <Paragraphs>438</Paragraphs>
  <Slides>34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Djikstra’s Algorithm</vt:lpstr>
      <vt:lpstr>Single-Source Shortest Path Problem </vt:lpstr>
      <vt:lpstr>Applications</vt:lpstr>
      <vt:lpstr>Dijkstra's algorithm </vt:lpstr>
      <vt:lpstr>Dijkstra's algorithm </vt:lpstr>
      <vt:lpstr>Dijkstra's algorithm: motivation </vt:lpstr>
      <vt:lpstr>Dijkstra's algorithm </vt:lpstr>
      <vt:lpstr>Dijkstra's algorithm </vt:lpstr>
      <vt:lpstr>Dijkstra's algorithm </vt:lpstr>
      <vt:lpstr>Dijkstra's algorithm </vt:lpstr>
      <vt:lpstr>Dijkstra's algorithm </vt:lpstr>
      <vt:lpstr>Dijkstra's algorithm </vt:lpstr>
      <vt:lpstr>Dijkstra's algorithm </vt:lpstr>
      <vt:lpstr>Dijkstra's algorithm </vt:lpstr>
      <vt:lpstr>Dijkstra's algorithm </vt:lpstr>
      <vt:lpstr>Implementation Details</vt:lpstr>
      <vt:lpstr>Example: Initialization</vt:lpstr>
      <vt:lpstr>Example: Update neighbors' distance</vt:lpstr>
      <vt:lpstr>Example: Remove vertex with minimum distance</vt:lpstr>
      <vt:lpstr>Example: Update neighbors</vt:lpstr>
      <vt:lpstr>Example: Continued...</vt:lpstr>
      <vt:lpstr>Example: Continued...</vt:lpstr>
      <vt:lpstr>Example: Continued...</vt:lpstr>
      <vt:lpstr>Example: Continued...</vt:lpstr>
      <vt:lpstr>Example (end)</vt:lpstr>
      <vt:lpstr>Another Example</vt:lpstr>
      <vt:lpstr>Another Example</vt:lpstr>
      <vt:lpstr>Another Example</vt:lpstr>
      <vt:lpstr>Another Example</vt:lpstr>
      <vt:lpstr>Another Example</vt:lpstr>
      <vt:lpstr>Another Example</vt:lpstr>
      <vt:lpstr>Another Example</vt:lpstr>
      <vt:lpstr>Another Example</vt:lpstr>
      <vt:lpstr>Another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373: Data Structures and Algorithms</dc:title>
  <dc:creator>Jessica Miller</dc:creator>
  <cp:lastModifiedBy>Srikanta Bedathur Jagannath</cp:lastModifiedBy>
  <cp:revision>196</cp:revision>
  <dcterms:created xsi:type="dcterms:W3CDTF">2011-02-28T19:50:14Z</dcterms:created>
  <dcterms:modified xsi:type="dcterms:W3CDTF">2026-10-21T04:50:43Z</dcterms:modified>
</cp:coreProperties>
</file>